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153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1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jpe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62.jpe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375" y="1234139"/>
            <a:ext cx="8429625" cy="1328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생성형 AI 기반 감정 분석 및
캐릭터 성장 시스템을 활용한
가족 소통 플랫폼</a:t>
            </a:r>
            <a:endParaRPr lang="en-US" sz="2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14375" y="3151454"/>
            <a:ext cx="84296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A500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팀: 에이원하조 (A1HaJo)</a:t>
            </a:r>
            <a:endParaRPr lang="en-US" sz="14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4375" y="3655089"/>
            <a:ext cx="8429625" cy="35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권유진(PM, Full-Stack) · </a:t>
            </a:r>
            <a:r>
              <a:rPr lang="en-US" sz="9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강민서</a:t>
            </a:r>
            <a:r>
              <a:rPr lang="en-US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(Backend, AI) · </a:t>
            </a:r>
            <a:r>
              <a:rPr lang="en-US" sz="9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차은비</a:t>
            </a:r>
            <a:r>
              <a:rPr lang="en-US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(</a:t>
            </a:r>
            <a:r>
              <a:rPr lang="en-US" altLang="ko-KR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Backend, AI</a:t>
            </a:r>
            <a:r>
              <a:rPr lang="en-US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)
</a:t>
            </a:r>
            <a:r>
              <a:rPr lang="en-US" sz="9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정윤도</a:t>
            </a:r>
            <a:r>
              <a:rPr lang="en-US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(Frontend) · </a:t>
            </a:r>
            <a:r>
              <a:rPr lang="en-US" sz="9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김란아</a:t>
            </a:r>
            <a:r>
              <a:rPr lang="en-US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(</a:t>
            </a:r>
            <a:r>
              <a:rPr lang="en-US" altLang="ko-KR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Frontend</a:t>
            </a:r>
            <a:r>
              <a:rPr lang="en-US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)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4377277"/>
            <a:ext cx="110728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541" y="4352274"/>
            <a:ext cx="2309217" cy="261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github.com/kikimiya0606/capstone-project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02439" y="1428750"/>
            <a:ext cx="539122" cy="6386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kern="0" spc="2" dirty="0">
                <a:solidFill>
                  <a:schemeClr val="bg2">
                    <a:lumMod val="50000"/>
                  </a:schemeClr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01</a:t>
            </a:r>
            <a:endParaRPr lang="en-US" sz="4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3412034" y="2348901"/>
            <a:ext cx="2319933" cy="438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프로젝트 개요</a:t>
            </a:r>
            <a:endParaRPr lang="en-US" sz="2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3073598" y="2856417"/>
            <a:ext cx="2996803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프로젝트의 배경, 목표, 기술, 팀 구성을 소개합니다</a:t>
            </a:r>
            <a:endParaRPr lang="en-US" sz="10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 0">
            <a:extLst>
              <a:ext uri="{FF2B5EF4-FFF2-40B4-BE49-F238E27FC236}">
                <a16:creationId xmlns:a16="http://schemas.microsoft.com/office/drawing/2014/main" id="{9A1979EB-11D9-7D0A-5745-8EDAE0A73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242887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팀 구성 및 상세 역할 분담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7" name="Shape 1">
            <a:extLst>
              <a:ext uri="{FF2B5EF4-FFF2-40B4-BE49-F238E27FC236}">
                <a16:creationId xmlns:a16="http://schemas.microsoft.com/office/drawing/2014/main" id="{45625605-3C4C-3868-37E9-E12C3289EDBA}"/>
              </a:ext>
            </a:extLst>
          </p:cNvPr>
          <p:cNvSpPr/>
          <p:nvPr/>
        </p:nvSpPr>
        <p:spPr>
          <a:xfrm>
            <a:off x="285750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8" name="Image 1">
            <a:extLst>
              <a:ext uri="{FF2B5EF4-FFF2-40B4-BE49-F238E27FC236}">
                <a16:creationId xmlns:a16="http://schemas.microsoft.com/office/drawing/2014/main" id="{EBF6E3B3-140A-8541-C6DA-70A42DC6E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122" y="1332728"/>
            <a:ext cx="250031" cy="285750"/>
          </a:xfrm>
          <a:prstGeom prst="rect">
            <a:avLst/>
          </a:prstGeom>
        </p:spPr>
      </p:pic>
      <p:sp>
        <p:nvSpPr>
          <p:cNvPr id="79" name="Text 2">
            <a:extLst>
              <a:ext uri="{FF2B5EF4-FFF2-40B4-BE49-F238E27FC236}">
                <a16:creationId xmlns:a16="http://schemas.microsoft.com/office/drawing/2014/main" id="{18EDF3F9-3140-C4F5-7AB5-8CC57AB95E48}"/>
              </a:ext>
            </a:extLst>
          </p:cNvPr>
          <p:cNvSpPr/>
          <p:nvPr/>
        </p:nvSpPr>
        <p:spPr>
          <a:xfrm>
            <a:off x="392906" y="1761353"/>
            <a:ext cx="14144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권유진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0" name="Shape 3">
            <a:extLst>
              <a:ext uri="{FF2B5EF4-FFF2-40B4-BE49-F238E27FC236}">
                <a16:creationId xmlns:a16="http://schemas.microsoft.com/office/drawing/2014/main" id="{49F16C27-F3B6-932F-325B-2B29C95E05CB}"/>
              </a:ext>
            </a:extLst>
          </p:cNvPr>
          <p:cNvSpPr/>
          <p:nvPr/>
        </p:nvSpPr>
        <p:spPr>
          <a:xfrm>
            <a:off x="617934" y="2023886"/>
            <a:ext cx="964406" cy="221456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5">
            <a:extLst>
              <a:ext uri="{FF2B5EF4-FFF2-40B4-BE49-F238E27FC236}">
                <a16:creationId xmlns:a16="http://schemas.microsoft.com/office/drawing/2014/main" id="{3FAC24A4-2D7B-719C-6D61-1B30F20DFBFA}"/>
              </a:ext>
            </a:extLst>
          </p:cNvPr>
          <p:cNvSpPr/>
          <p:nvPr/>
        </p:nvSpPr>
        <p:spPr>
          <a:xfrm>
            <a:off x="240507" y="2532944"/>
            <a:ext cx="1628774" cy="136242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프로젝트 기획 및 서비스 전략 수립</a:t>
            </a: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 err="1">
                <a:latin typeface="페이퍼로지 4 Regular" pitchFamily="2" charset="-127"/>
                <a:ea typeface="페이퍼로지 4 Regular" pitchFamily="2" charset="-127"/>
              </a:rPr>
              <a:t>프론트엔드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(Flutter)·</a:t>
            </a:r>
            <a:r>
              <a:rPr lang="ko-KR" altLang="en-US" sz="700" dirty="0" err="1">
                <a:latin typeface="페이퍼로지 4 Regular" pitchFamily="2" charset="-127"/>
                <a:ea typeface="페이퍼로지 4 Regular" pitchFamily="2" charset="-127"/>
              </a:rPr>
              <a:t>백엔드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(AI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통합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시스템 설계 및 개발 총괄</a:t>
            </a: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개발 일정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리소스 관리 및 팀 협업 조율</a:t>
            </a: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서비스 품질 관리 및 기술 의사결정</a:t>
            </a:r>
          </a:p>
          <a:p>
            <a:pPr marL="0" indent="0" algn="l">
              <a:lnSpc>
                <a:spcPct val="128000"/>
              </a:lnSpc>
              <a:buNone/>
            </a:pP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l">
              <a:lnSpc>
                <a:spcPct val="128000"/>
              </a:lnSpc>
              <a:buNone/>
            </a:pP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2" name="Shape 8">
            <a:extLst>
              <a:ext uri="{FF2B5EF4-FFF2-40B4-BE49-F238E27FC236}">
                <a16:creationId xmlns:a16="http://schemas.microsoft.com/office/drawing/2014/main" id="{D165E7EB-47C5-4489-8344-823497CE7D51}"/>
              </a:ext>
            </a:extLst>
          </p:cNvPr>
          <p:cNvSpPr/>
          <p:nvPr/>
        </p:nvSpPr>
        <p:spPr>
          <a:xfrm>
            <a:off x="2021681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153615C7-6757-3E3C-029A-D20F7E3836EE}"/>
              </a:ext>
            </a:extLst>
          </p:cNvPr>
          <p:cNvSpPr/>
          <p:nvPr/>
        </p:nvSpPr>
        <p:spPr>
          <a:xfrm>
            <a:off x="2128838" y="1761353"/>
            <a:ext cx="14144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강민서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5" name="Shape 18">
            <a:extLst>
              <a:ext uri="{FF2B5EF4-FFF2-40B4-BE49-F238E27FC236}">
                <a16:creationId xmlns:a16="http://schemas.microsoft.com/office/drawing/2014/main" id="{7791087A-776D-94CC-922F-D112037232F3}"/>
              </a:ext>
            </a:extLst>
          </p:cNvPr>
          <p:cNvSpPr/>
          <p:nvPr/>
        </p:nvSpPr>
        <p:spPr>
          <a:xfrm>
            <a:off x="3757613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6" name="Image 3">
            <a:extLst>
              <a:ext uri="{FF2B5EF4-FFF2-40B4-BE49-F238E27FC236}">
                <a16:creationId xmlns:a16="http://schemas.microsoft.com/office/drawing/2014/main" id="{A76C520B-AEA1-68A6-BBDE-233821DDE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406" y="1332728"/>
            <a:ext cx="357188" cy="285750"/>
          </a:xfrm>
          <a:prstGeom prst="rect">
            <a:avLst/>
          </a:prstGeom>
        </p:spPr>
      </p:pic>
      <p:sp>
        <p:nvSpPr>
          <p:cNvPr id="87" name="Text 22">
            <a:extLst>
              <a:ext uri="{FF2B5EF4-FFF2-40B4-BE49-F238E27FC236}">
                <a16:creationId xmlns:a16="http://schemas.microsoft.com/office/drawing/2014/main" id="{67C8B84F-8050-147E-27F7-A9B270EF48C8}"/>
              </a:ext>
            </a:extLst>
          </p:cNvPr>
          <p:cNvSpPr/>
          <p:nvPr/>
        </p:nvSpPr>
        <p:spPr>
          <a:xfrm>
            <a:off x="3864769" y="1761353"/>
            <a:ext cx="14144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차은비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8" name="Shape 23">
            <a:extLst>
              <a:ext uri="{FF2B5EF4-FFF2-40B4-BE49-F238E27FC236}">
                <a16:creationId xmlns:a16="http://schemas.microsoft.com/office/drawing/2014/main" id="{BBCD1C80-AB55-6CF6-D08F-47322F6E8C92}"/>
              </a:ext>
            </a:extLst>
          </p:cNvPr>
          <p:cNvSpPr/>
          <p:nvPr/>
        </p:nvSpPr>
        <p:spPr>
          <a:xfrm>
            <a:off x="4089797" y="2023886"/>
            <a:ext cx="964406" cy="221456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28">
            <a:extLst>
              <a:ext uri="{FF2B5EF4-FFF2-40B4-BE49-F238E27FC236}">
                <a16:creationId xmlns:a16="http://schemas.microsoft.com/office/drawing/2014/main" id="{F67AC492-463F-9360-109F-22C1042CB083}"/>
              </a:ext>
            </a:extLst>
          </p:cNvPr>
          <p:cNvSpPr/>
          <p:nvPr/>
        </p:nvSpPr>
        <p:spPr>
          <a:xfrm>
            <a:off x="5493544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Text 32">
            <a:extLst>
              <a:ext uri="{FF2B5EF4-FFF2-40B4-BE49-F238E27FC236}">
                <a16:creationId xmlns:a16="http://schemas.microsoft.com/office/drawing/2014/main" id="{4166B957-FD51-700F-5E95-230DD6A80189}"/>
              </a:ext>
            </a:extLst>
          </p:cNvPr>
          <p:cNvSpPr/>
          <p:nvPr/>
        </p:nvSpPr>
        <p:spPr>
          <a:xfrm>
            <a:off x="5600700" y="1761353"/>
            <a:ext cx="14144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정윤도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2" name="Shape 38">
            <a:extLst>
              <a:ext uri="{FF2B5EF4-FFF2-40B4-BE49-F238E27FC236}">
                <a16:creationId xmlns:a16="http://schemas.microsoft.com/office/drawing/2014/main" id="{F1BB0744-FC57-0CD7-2C8E-8DDA6D6B8AC3}"/>
              </a:ext>
            </a:extLst>
          </p:cNvPr>
          <p:cNvSpPr/>
          <p:nvPr/>
        </p:nvSpPr>
        <p:spPr>
          <a:xfrm>
            <a:off x="7229475" y="1091626"/>
            <a:ext cx="1628775" cy="36433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42">
            <a:extLst>
              <a:ext uri="{FF2B5EF4-FFF2-40B4-BE49-F238E27FC236}">
                <a16:creationId xmlns:a16="http://schemas.microsoft.com/office/drawing/2014/main" id="{2742EC93-7429-5CB9-A508-72953245194A}"/>
              </a:ext>
            </a:extLst>
          </p:cNvPr>
          <p:cNvSpPr/>
          <p:nvPr/>
        </p:nvSpPr>
        <p:spPr>
          <a:xfrm>
            <a:off x="7336631" y="1761353"/>
            <a:ext cx="14144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김란아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5" name="Text 5">
            <a:extLst>
              <a:ext uri="{FF2B5EF4-FFF2-40B4-BE49-F238E27FC236}">
                <a16:creationId xmlns:a16="http://schemas.microsoft.com/office/drawing/2014/main" id="{01FD281A-F1B0-3F1C-77E9-15A4CF3943EE}"/>
              </a:ext>
            </a:extLst>
          </p:cNvPr>
          <p:cNvSpPr/>
          <p:nvPr/>
        </p:nvSpPr>
        <p:spPr>
          <a:xfrm>
            <a:off x="1942348" y="2532944"/>
            <a:ext cx="1690688" cy="1500283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AI Hub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기반 감정 분석 모델 학습 및 연동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Hugging Face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모델을 활용한 </a:t>
            </a:r>
            <a:r>
              <a:rPr lang="ko-KR" altLang="en-US" sz="700" dirty="0" err="1">
                <a:latin typeface="페이퍼로지 4 Regular" pitchFamily="2" charset="-127"/>
                <a:ea typeface="페이퍼로지 4 Regular" pitchFamily="2" charset="-127"/>
              </a:rPr>
              <a:t>게이미피케이션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 기능 개발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사용자 입력 데이터 실시간 처리 및</a:t>
            </a: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감정 기반 알림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팝업 시스템 구현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서버 아키텍처 설계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 API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제공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성능 최적화 및 안정성 관리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6" name="Text 5">
            <a:extLst>
              <a:ext uri="{FF2B5EF4-FFF2-40B4-BE49-F238E27FC236}">
                <a16:creationId xmlns:a16="http://schemas.microsoft.com/office/drawing/2014/main" id="{27217961-423B-0D9E-9782-3F4432F77DD7}"/>
              </a:ext>
            </a:extLst>
          </p:cNvPr>
          <p:cNvSpPr/>
          <p:nvPr/>
        </p:nvSpPr>
        <p:spPr>
          <a:xfrm>
            <a:off x="3695700" y="2520886"/>
            <a:ext cx="1690688" cy="1500283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AI Hub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기반 감정 분석 모델 학습 및 연동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Hugging Face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모델을 활용한 </a:t>
            </a:r>
            <a:r>
              <a:rPr lang="ko-KR" altLang="en-US" sz="700" dirty="0" err="1">
                <a:latin typeface="페이퍼로지 4 Regular" pitchFamily="2" charset="-127"/>
                <a:ea typeface="페이퍼로지 4 Regular" pitchFamily="2" charset="-127"/>
              </a:rPr>
              <a:t>게이미피케이션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 기능 개발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사용자 입력 데이터 실시간 처리 및</a:t>
            </a:r>
            <a:endParaRPr lang="en-US" altLang="ko-KR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감정 기반 알림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팝업 시스템 구현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서버 아키텍처 설계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 API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제공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성능 최적화 및 안정성 관리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7" name="Text 5">
            <a:extLst>
              <a:ext uri="{FF2B5EF4-FFF2-40B4-BE49-F238E27FC236}">
                <a16:creationId xmlns:a16="http://schemas.microsoft.com/office/drawing/2014/main" id="{BE5E4498-488D-EBC6-FA3F-BC47287DBA62}"/>
              </a:ext>
            </a:extLst>
          </p:cNvPr>
          <p:cNvSpPr/>
          <p:nvPr/>
        </p:nvSpPr>
        <p:spPr>
          <a:xfrm>
            <a:off x="5386388" y="2516286"/>
            <a:ext cx="1690688" cy="136242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Figma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를 활용한 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UI/UX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설계 및 프로토타입 제작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Flutter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기반 반응형 웹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모바일 화면 개발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감정 분석 결과 및 </a:t>
            </a:r>
            <a:r>
              <a:rPr lang="ko-KR" altLang="en-US" sz="700" dirty="0" err="1">
                <a:latin typeface="페이퍼로지 4 Regular" pitchFamily="2" charset="-127"/>
                <a:ea typeface="페이퍼로지 4 Regular" pitchFamily="2" charset="-127"/>
              </a:rPr>
              <a:t>게이미피케이션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 요소 시각화 구현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사용자 피드백 기반 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UI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개선 및 디자인 시스템 유지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8" name="Text 5">
            <a:extLst>
              <a:ext uri="{FF2B5EF4-FFF2-40B4-BE49-F238E27FC236}">
                <a16:creationId xmlns:a16="http://schemas.microsoft.com/office/drawing/2014/main" id="{C2C8E5F4-79E4-E11F-6BC8-5F11D7CB7954}"/>
              </a:ext>
            </a:extLst>
          </p:cNvPr>
          <p:cNvSpPr/>
          <p:nvPr/>
        </p:nvSpPr>
        <p:spPr>
          <a:xfrm>
            <a:off x="7145513" y="2511936"/>
            <a:ext cx="1690688" cy="136242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Figma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를 활용한 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UI/UX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설계 및 프로토타입 제작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Flutter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기반 반응형 웹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모바일 화면 개발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감정 분석 결과 및 </a:t>
            </a:r>
            <a:r>
              <a:rPr lang="ko-KR" altLang="en-US" sz="700" dirty="0" err="1">
                <a:latin typeface="페이퍼로지 4 Regular" pitchFamily="2" charset="-127"/>
                <a:ea typeface="페이퍼로지 4 Regular" pitchFamily="2" charset="-127"/>
              </a:rPr>
              <a:t>게이미피케이션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 요소 시각화 구현</a:t>
            </a:r>
          </a:p>
          <a:p>
            <a:pPr marL="0" indent="0" algn="ctr">
              <a:lnSpc>
                <a:spcPct val="128000"/>
              </a:lnSpc>
              <a:buNone/>
            </a:pPr>
            <a:endParaRPr lang="ko-KR" altLang="en-US" sz="7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사용자 피드백 기반 </a:t>
            </a:r>
            <a:r>
              <a:rPr lang="en-US" altLang="ko-KR" sz="700" dirty="0">
                <a:latin typeface="페이퍼로지 4 Regular" pitchFamily="2" charset="-127"/>
                <a:ea typeface="페이퍼로지 4 Regular" pitchFamily="2" charset="-127"/>
              </a:rPr>
              <a:t>UI </a:t>
            </a:r>
            <a:r>
              <a:rPr lang="ko-KR" altLang="en-US" sz="700" dirty="0">
                <a:latin typeface="페이퍼로지 4 Regular" pitchFamily="2" charset="-127"/>
                <a:ea typeface="페이퍼로지 4 Regular" pitchFamily="2" charset="-127"/>
              </a:rPr>
              <a:t>개선 및 디자인 시스템 유지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00" name="Image 2">
            <a:extLst>
              <a:ext uri="{FF2B5EF4-FFF2-40B4-BE49-F238E27FC236}">
                <a16:creationId xmlns:a16="http://schemas.microsoft.com/office/drawing/2014/main" id="{65967EC1-2C14-8E3E-64B3-A60C93664A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1052" y="1382347"/>
            <a:ext cx="250031" cy="285750"/>
          </a:xfrm>
          <a:prstGeom prst="rect">
            <a:avLst/>
          </a:prstGeom>
        </p:spPr>
      </p:pic>
      <p:pic>
        <p:nvPicPr>
          <p:cNvPr id="101" name="Image 4">
            <a:extLst>
              <a:ext uri="{FF2B5EF4-FFF2-40B4-BE49-F238E27FC236}">
                <a16:creationId xmlns:a16="http://schemas.microsoft.com/office/drawing/2014/main" id="{6D32AC60-E1D9-C710-BB47-27C828198C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0773" y="1332728"/>
            <a:ext cx="214313" cy="285750"/>
          </a:xfrm>
          <a:prstGeom prst="rect">
            <a:avLst/>
          </a:prstGeom>
        </p:spPr>
      </p:pic>
      <p:pic>
        <p:nvPicPr>
          <p:cNvPr id="102" name="Image 5">
            <a:extLst>
              <a:ext uri="{FF2B5EF4-FFF2-40B4-BE49-F238E27FC236}">
                <a16:creationId xmlns:a16="http://schemas.microsoft.com/office/drawing/2014/main" id="{ECC8F2AA-D5ED-7EAA-135C-9CBFB88BA2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987" y="1345009"/>
            <a:ext cx="285750" cy="285750"/>
          </a:xfrm>
          <a:prstGeom prst="rect">
            <a:avLst/>
          </a:prstGeom>
        </p:spPr>
      </p:pic>
      <p:sp>
        <p:nvSpPr>
          <p:cNvPr id="103" name="Shape 3">
            <a:extLst>
              <a:ext uri="{FF2B5EF4-FFF2-40B4-BE49-F238E27FC236}">
                <a16:creationId xmlns:a16="http://schemas.microsoft.com/office/drawing/2014/main" id="{E96A4F0E-7966-3501-D506-2C9938BDF0AC}"/>
              </a:ext>
            </a:extLst>
          </p:cNvPr>
          <p:cNvSpPr/>
          <p:nvPr/>
        </p:nvSpPr>
        <p:spPr>
          <a:xfrm>
            <a:off x="2369940" y="2023886"/>
            <a:ext cx="964406" cy="221456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14">
            <a:extLst>
              <a:ext uri="{FF2B5EF4-FFF2-40B4-BE49-F238E27FC236}">
                <a16:creationId xmlns:a16="http://schemas.microsoft.com/office/drawing/2014/main" id="{B87D716A-86ED-158A-660B-D85573F011F5}"/>
              </a:ext>
            </a:extLst>
          </p:cNvPr>
          <p:cNvSpPr/>
          <p:nvPr/>
        </p:nvSpPr>
        <p:spPr>
          <a:xfrm>
            <a:off x="2424385" y="2023886"/>
            <a:ext cx="823367" cy="19184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68D391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Backend, AI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AB2B6EFE-2A45-6950-1080-F27A5AB27527}"/>
              </a:ext>
            </a:extLst>
          </p:cNvPr>
          <p:cNvSpPr/>
          <p:nvPr/>
        </p:nvSpPr>
        <p:spPr>
          <a:xfrm>
            <a:off x="4162935" y="2023886"/>
            <a:ext cx="823367" cy="19184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68D391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Backend, AI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5" name="Text 14">
            <a:extLst>
              <a:ext uri="{FF2B5EF4-FFF2-40B4-BE49-F238E27FC236}">
                <a16:creationId xmlns:a16="http://schemas.microsoft.com/office/drawing/2014/main" id="{9E0AE779-F6D0-6099-C6A3-7B047F002FE1}"/>
              </a:ext>
            </a:extLst>
          </p:cNvPr>
          <p:cNvSpPr/>
          <p:nvPr/>
        </p:nvSpPr>
        <p:spPr>
          <a:xfrm>
            <a:off x="628555" y="2027902"/>
            <a:ext cx="948401" cy="19184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>
                <a:solidFill>
                  <a:srgbClr val="68D391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PM, Full-Stack</a:t>
            </a:r>
            <a:endParaRPr lang="en-US" altLang="ko-KR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6" name="Shape 23">
            <a:extLst>
              <a:ext uri="{FF2B5EF4-FFF2-40B4-BE49-F238E27FC236}">
                <a16:creationId xmlns:a16="http://schemas.microsoft.com/office/drawing/2014/main" id="{4CA7A141-E92A-B981-E69F-910A22BCCEF9}"/>
              </a:ext>
            </a:extLst>
          </p:cNvPr>
          <p:cNvSpPr/>
          <p:nvPr/>
        </p:nvSpPr>
        <p:spPr>
          <a:xfrm>
            <a:off x="5832428" y="2021633"/>
            <a:ext cx="964406" cy="221456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34">
            <a:extLst>
              <a:ext uri="{FF2B5EF4-FFF2-40B4-BE49-F238E27FC236}">
                <a16:creationId xmlns:a16="http://schemas.microsoft.com/office/drawing/2014/main" id="{8A713D39-F2B9-58C4-732B-1EF074D37F35}"/>
              </a:ext>
            </a:extLst>
          </p:cNvPr>
          <p:cNvSpPr/>
          <p:nvPr/>
        </p:nvSpPr>
        <p:spPr>
          <a:xfrm>
            <a:off x="5961970" y="2036078"/>
            <a:ext cx="691920" cy="19184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68D391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Frontend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7" name="Shape 23">
            <a:extLst>
              <a:ext uri="{FF2B5EF4-FFF2-40B4-BE49-F238E27FC236}">
                <a16:creationId xmlns:a16="http://schemas.microsoft.com/office/drawing/2014/main" id="{4B405825-3951-E5E5-E632-0E188A277A75}"/>
              </a:ext>
            </a:extLst>
          </p:cNvPr>
          <p:cNvSpPr/>
          <p:nvPr/>
        </p:nvSpPr>
        <p:spPr>
          <a:xfrm>
            <a:off x="7568020" y="2015710"/>
            <a:ext cx="964406" cy="221456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" name="Text 44">
            <a:extLst>
              <a:ext uri="{FF2B5EF4-FFF2-40B4-BE49-F238E27FC236}">
                <a16:creationId xmlns:a16="http://schemas.microsoft.com/office/drawing/2014/main" id="{A7994D7A-8F44-39B0-7FB5-017BC49C5DE4}"/>
              </a:ext>
            </a:extLst>
          </p:cNvPr>
          <p:cNvSpPr/>
          <p:nvPr/>
        </p:nvSpPr>
        <p:spPr>
          <a:xfrm>
            <a:off x="7697902" y="2023886"/>
            <a:ext cx="691921" cy="19184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800" b="1" dirty="0">
                <a:solidFill>
                  <a:srgbClr val="68D391"/>
                </a:solidFill>
                <a:latin typeface="페이퍼로지 4 Regular" pitchFamily="2" charset="-127"/>
                <a:ea typeface="페이퍼로지 4 Regular" pitchFamily="2" charset="-127"/>
                <a:cs typeface="Montserrat Bold" pitchFamily="34" charset="-120"/>
              </a:rPr>
              <a:t>Frontend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5788" y="428625"/>
            <a:ext cx="425801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프로젝트 배경 및 필요성: 소통의 단절 해결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151037"/>
            <a:ext cx="19645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0803" y="1116211"/>
            <a:ext cx="6898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A500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사회적 배경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 2"/>
          <p:cNvSpPr/>
          <p:nvPr/>
        </p:nvSpPr>
        <p:spPr>
          <a:xfrm>
            <a:off x="428625" y="1428750"/>
            <a:ext cx="5644565" cy="358944"/>
          </a:xfrm>
          <a:prstGeom prst="rect">
            <a:avLst/>
          </a:prstGeom>
          <a:noFill/>
          <a:ln/>
        </p:spPr>
        <p:txBody>
          <a:bodyPr wrap="square" lIns="323215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현대 사회의 1인 가구 증가와 바쁜 생활 패턴으로 인해 가족 간 대화 시간이 급격히 감소하고 있으며, 이는 정서적 거리감 심화로 이어집니다.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503550"/>
            <a:ext cx="196453" cy="15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0803" y="2468724"/>
            <a:ext cx="68982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A500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기술적 배경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4"/>
          <p:cNvSpPr/>
          <p:nvPr/>
        </p:nvSpPr>
        <p:spPr>
          <a:xfrm>
            <a:off x="428625" y="2781263"/>
            <a:ext cx="5266601" cy="358944"/>
          </a:xfrm>
          <a:prstGeom prst="rect">
            <a:avLst/>
          </a:prstGeom>
          <a:noFill/>
          <a:ln/>
        </p:spPr>
        <p:txBody>
          <a:bodyPr wrap="square" lIns="323215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기존 메신저는 단순 정보 전달에 치중되어 있습니다. 최신 AI 감정 분석 기술을 통해 사용자의 마음을 읽고 공감을 유도하는 새로운 소통 방식이 필요합니다.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856062"/>
            <a:ext cx="157163" cy="1571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1513" y="3821237"/>
            <a:ext cx="55826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A500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추진 동기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28626" y="4133776"/>
            <a:ext cx="4960792" cy="352276"/>
          </a:xfrm>
          <a:prstGeom prst="rect">
            <a:avLst/>
          </a:prstGeom>
          <a:noFill/>
          <a:ln/>
        </p:spPr>
        <p:txBody>
          <a:bodyPr wrap="square" lIns="323215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감정 기록을 가족 간 대화의 매개체로 활용하고, 캐릭터 성장 시스템(Gamification)을 도입하여 지속적이고 즐거운 소통 환경을 구축하고자 합니다.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7572375" y="3116461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2089547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프로젝트 목표 및 범위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116211"/>
            <a:ext cx="4000500" cy="39558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377581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0125" y="1381180"/>
            <a:ext cx="85119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500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프로젝트 목표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1992837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4406" y="1985963"/>
            <a:ext cx="3178969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AI 감정 분석 시스템 구축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4"/>
          <p:cNvSpPr/>
          <p:nvPr/>
        </p:nvSpPr>
        <p:spPr>
          <a:xfrm>
            <a:off x="964406" y="2250281"/>
            <a:ext cx="3178969" cy="13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사용자의 일상을 깊이 있게 이해하는 한국어 특화 감정 분석 모델 구현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607962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4406" y="2601087"/>
            <a:ext cx="3178969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자연스러운 대화 유도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64406" y="2865406"/>
            <a:ext cx="3178969" cy="13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가족 구성원 간의 대화 단절을 해소하기 위한 AI 기반 맞춤형 질문 생성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218752"/>
            <a:ext cx="142875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4406" y="3212041"/>
            <a:ext cx="3178969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지속적 참여 유도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8"/>
          <p:cNvSpPr/>
          <p:nvPr/>
        </p:nvSpPr>
        <p:spPr>
          <a:xfrm>
            <a:off x="964405" y="3449842"/>
            <a:ext cx="2832507" cy="139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게이미피케이션(캐릭터 성장)을 통한 꾸준한 서비스 이용 환경 제공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836618"/>
            <a:ext cx="142875" cy="14287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4406" y="3836670"/>
            <a:ext cx="3178969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디지털 아카이브 구축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964406" y="4100989"/>
            <a:ext cx="2500685" cy="139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가족의 소중한 감정과 추억을 데이터 기반으로 보관 및 회고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4714875" y="1116211"/>
            <a:ext cx="4000500" cy="39558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1426071"/>
            <a:ext cx="250031" cy="2000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36381" y="1422742"/>
            <a:ext cx="71493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DBE8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산출물 형태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1992838"/>
            <a:ext cx="125016" cy="14287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32797" y="1985963"/>
            <a:ext cx="319682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모바일 앱 (Flutter)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5232797" y="2250281"/>
            <a:ext cx="1753685" cy="139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iOS/Android 지원 가족 소통 플랫폼 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2607200"/>
            <a:ext cx="125016" cy="14287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232797" y="2600325"/>
            <a:ext cx="319682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AI 감정 분석 모듈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5232797" y="2864644"/>
            <a:ext cx="1619033" cy="139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KoBERT 기반 한국어 감정 분류 모델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3221561"/>
            <a:ext cx="125016" cy="142875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232797" y="3214688"/>
            <a:ext cx="319682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AI </a:t>
            </a:r>
            <a:r>
              <a:rPr lang="en-US" sz="1000" b="1" dirty="0" err="1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연동</a:t>
            </a: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 대화 생성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5232797" y="3479006"/>
            <a:ext cx="1896353" cy="139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Claude API 기반 공감 메시지 및 질문 생성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3835925"/>
            <a:ext cx="125016" cy="142875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232797" y="3829050"/>
            <a:ext cx="319682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가족 정원 성장 시스템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3" name="Text 20"/>
          <p:cNvSpPr/>
          <p:nvPr/>
        </p:nvSpPr>
        <p:spPr>
          <a:xfrm>
            <a:off x="5232797" y="4093369"/>
            <a:ext cx="1827423" cy="139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소통 활동량에 따른 게이미피케이션 결과물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56333"/>
            <a:ext cx="278606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시장 벤치마킹 및 차별성 분석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044773"/>
            <a:ext cx="8286750" cy="20306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1048345"/>
            <a:ext cx="1889020" cy="423267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1048345"/>
            <a:ext cx="1889020" cy="423267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구분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321216" y="1048345"/>
            <a:ext cx="1555077" cy="423267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21216" y="1048345"/>
            <a:ext cx="1555077" cy="423267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Between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72443" y="1048345"/>
            <a:ext cx="1461288" cy="423267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72443" y="1048345"/>
            <a:ext cx="1461288" cy="423267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Slowly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31051" y="1048345"/>
            <a:ext cx="1564091" cy="423267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31051" y="1048345"/>
            <a:ext cx="1564091" cy="423267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Sumone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95142" y="1048345"/>
            <a:ext cx="1816661" cy="423267"/>
          </a:xfrm>
          <a:prstGeom prst="rect">
            <a:avLst/>
          </a:prstGeom>
          <a:solidFill>
            <a:srgbClr val="F0A500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95142" y="1048345"/>
            <a:ext cx="1816661" cy="423267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에이원하조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32197" y="1464469"/>
            <a:ext cx="1892005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주요 타깃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324202" y="1464469"/>
            <a:ext cx="1544417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커플/가족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868620" y="1464469"/>
            <a:ext cx="1462432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개인(펜팔)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331051" y="1464469"/>
            <a:ext cx="1564091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커플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895142" y="1464469"/>
            <a:ext cx="1816661" cy="400050"/>
          </a:xfrm>
          <a:prstGeom prst="rect">
            <a:avLst/>
          </a:prstGeom>
          <a:solidFill>
            <a:srgbClr val="FFF3D6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95142" y="1464469"/>
            <a:ext cx="1816661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가족 전체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32197" y="1864519"/>
            <a:ext cx="1892005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감정 분석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324202" y="1864519"/>
            <a:ext cx="1544417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✗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68620" y="1864519"/>
            <a:ext cx="1462432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✗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331051" y="1864519"/>
            <a:ext cx="1564091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✗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895142" y="1864519"/>
            <a:ext cx="1816661" cy="400050"/>
          </a:xfrm>
          <a:prstGeom prst="rect">
            <a:avLst/>
          </a:prstGeom>
          <a:solidFill>
            <a:srgbClr val="FFF3D6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81990" y="1980605"/>
            <a:ext cx="785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BE8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560571" y="1980605"/>
            <a:ext cx="56792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(KoBERT)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32197" y="2264569"/>
            <a:ext cx="1892005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대화 유도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2324202" y="2264569"/>
            <a:ext cx="1544417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일정 중심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868620" y="2264569"/>
            <a:ext cx="1462432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편지 형식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331051" y="2264569"/>
            <a:ext cx="1564091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질문 기반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895142" y="2264569"/>
            <a:ext cx="1816661" cy="400050"/>
          </a:xfrm>
          <a:prstGeom prst="rect">
            <a:avLst/>
          </a:prstGeom>
          <a:solidFill>
            <a:srgbClr val="FFF3D6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95142" y="2264569"/>
            <a:ext cx="1816661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AI 맞춤 질문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2197" y="2664619"/>
            <a:ext cx="1892005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게이미피케이션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324202" y="2664619"/>
            <a:ext cx="1544417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✗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3868620" y="2664619"/>
            <a:ext cx="1462432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✗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331051" y="2664619"/>
            <a:ext cx="1564091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캐릭터 성장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895142" y="2664619"/>
            <a:ext cx="1816661" cy="400050"/>
          </a:xfrm>
          <a:prstGeom prst="rect">
            <a:avLst/>
          </a:prstGeom>
          <a:solidFill>
            <a:srgbClr val="FFF3D6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95142" y="2664619"/>
            <a:ext cx="1816661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공유 정원 성장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28625" y="3353991"/>
            <a:ext cx="2666991" cy="1112639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3582348"/>
            <a:ext cx="196453" cy="157163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867966" y="3568303"/>
            <a:ext cx="811119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가족 중심 구조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600075" y="3909417"/>
            <a:ext cx="2324091" cy="29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커플 위주의 기존 앱과 달리 다자간 소통이 </a:t>
            </a:r>
            <a:r>
              <a:rPr lang="en-US" sz="800" dirty="0" err="1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가능한</a:t>
            </a: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</a:t>
            </a:r>
            <a:r>
              <a:rPr lang="en-US" sz="800" dirty="0" err="1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가족</a:t>
            </a:r>
            <a:endParaRPr lang="en-US" sz="800" dirty="0">
              <a:solidFill>
                <a:srgbClr val="FFFFFF">
                  <a:alpha val="90000"/>
                </a:srgbClr>
              </a:solidFill>
              <a:latin typeface="페이퍼로지 4 Regular" pitchFamily="2" charset="-127"/>
              <a:ea typeface="페이퍼로지 4 Regular" pitchFamily="2" charset="-127"/>
              <a:cs typeface="Noto Sans KR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 err="1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최적화</a:t>
            </a: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인터페이스 제공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4" name="Shape 40"/>
          <p:cNvSpPr/>
          <p:nvPr/>
        </p:nvSpPr>
        <p:spPr>
          <a:xfrm>
            <a:off x="3238491" y="3353991"/>
            <a:ext cx="2666991" cy="1112639"/>
          </a:xfrm>
          <a:prstGeom prst="rect">
            <a:avLst/>
          </a:prstGeom>
          <a:solidFill>
            <a:srgbClr val="3DBE8A"/>
          </a:solidFill>
          <a:ln/>
        </p:spPr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9941" y="3575421"/>
            <a:ext cx="157163" cy="157163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3638541" y="3568303"/>
            <a:ext cx="703719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AI 정서 교류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7" name="Text 42"/>
          <p:cNvSpPr/>
          <p:nvPr/>
        </p:nvSpPr>
        <p:spPr>
          <a:xfrm>
            <a:off x="3409941" y="3909417"/>
            <a:ext cx="2324091" cy="29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단순 메신저를 넘어 AI가 감정을 분석하고 공감 메시지를 생성하여 깊은 유대감 형성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8" name="Shape 43"/>
          <p:cNvSpPr/>
          <p:nvPr/>
        </p:nvSpPr>
        <p:spPr>
          <a:xfrm>
            <a:off x="6048356" y="3353991"/>
            <a:ext cx="2666991" cy="1112639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806" y="3582348"/>
            <a:ext cx="157163" cy="157163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6448406" y="3568303"/>
            <a:ext cx="90569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지속적 상호작용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1" name="Text 45"/>
          <p:cNvSpPr/>
          <p:nvPr/>
        </p:nvSpPr>
        <p:spPr>
          <a:xfrm>
            <a:off x="6219806" y="3909417"/>
            <a:ext cx="2324091" cy="29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정원 가꾸기 요소를 통해 가족이 함께 목표를 달성하며 앱 사용의 재미와 지속성 확보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62290"/>
            <a:ext cx="293072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적용 AI 기술 및 모델 구조 설계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116211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78" y="1216223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1116211"/>
            <a:ext cx="35147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생성형 AI (Claude)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914400" y="1301504"/>
            <a:ext cx="3800475" cy="315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사용자 상황에 맞는 공감 메시지 생성, 가족 간 대화 유도를 위한 데일리 질문 자동 생성 및 감정 기반 요약 리포트 제공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714875" y="1116211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028" y="1216223"/>
            <a:ext cx="178594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00650" y="1116211"/>
            <a:ext cx="35147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자연어 처리 (KoBERT)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200650" y="1328462"/>
            <a:ext cx="3728605" cy="315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한국어 특화 감정 분류 모델을 활용하여 텍스트 데이터에서 미세한 감정 변화를 감지하고 다중 라벨링 수행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428625" y="2132019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8" y="2232031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2132019"/>
            <a:ext cx="35147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프롬프트 엔지니어링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9"/>
          <p:cNvSpPr/>
          <p:nvPr/>
        </p:nvSpPr>
        <p:spPr>
          <a:xfrm>
            <a:off x="914400" y="2348713"/>
            <a:ext cx="3589734" cy="315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분석된 감정 데이터를 바탕으로 가족 구성원에게 최적화된 공감 메시지와 자연스러운 대화 유도 질문을 생성하는 프롬프트 기술 적용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714875" y="2132019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817" y="2232031"/>
            <a:ext cx="125016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00650" y="2132019"/>
            <a:ext cx="35147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추천 알고리즘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5193723" y="2334860"/>
            <a:ext cx="3589734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사용자의 과거 감정 이력과 소통 패턴을 분석하여 개인화된 콘텐츠 및 대화 주제 추천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428625" y="3219264"/>
            <a:ext cx="8286750" cy="1143000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21" name="Text 14"/>
          <p:cNvSpPr/>
          <p:nvPr/>
        </p:nvSpPr>
        <p:spPr>
          <a:xfrm>
            <a:off x="714375" y="3433576"/>
            <a:ext cx="77152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데이터 흐름도 (Data Pipeline)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714375" y="3792550"/>
            <a:ext cx="1676995" cy="400050"/>
          </a:xfrm>
          <a:prstGeom prst="rect">
            <a:avLst/>
          </a:prstGeom>
          <a:solidFill>
            <a:srgbClr val="FFFFFF"/>
          </a:solidFill>
          <a:ln w="9144">
            <a:solidFill>
              <a:srgbClr val="D1D9E6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14375" y="3792550"/>
            <a:ext cx="1676995" cy="400050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사용자 입력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4955" y="3916673"/>
            <a:ext cx="107156" cy="17145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2716411" y="3792550"/>
            <a:ext cx="1680567" cy="400050"/>
          </a:xfrm>
          <a:prstGeom prst="rect">
            <a:avLst/>
          </a:prstGeom>
          <a:solidFill>
            <a:srgbClr val="FFFFFF"/>
          </a:solidFill>
          <a:ln w="9144">
            <a:solidFill>
              <a:srgbClr val="D1D9E6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2716411" y="3792550"/>
            <a:ext cx="1680567" cy="400050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KoBERT 감정 분석</a:t>
            </a:r>
            <a:endParaRPr lang="en-US" sz="9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4134" y="3916673"/>
            <a:ext cx="107156" cy="17145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4725591" y="3792550"/>
            <a:ext cx="1684139" cy="400050"/>
          </a:xfrm>
          <a:prstGeom prst="rect">
            <a:avLst/>
          </a:prstGeom>
          <a:solidFill>
            <a:srgbClr val="FFFFFF"/>
          </a:solidFill>
          <a:ln w="9144">
            <a:solidFill>
              <a:srgbClr val="D1D9E6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4725591" y="3792550"/>
            <a:ext cx="1684139" cy="275845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Claude 응답 생성</a:t>
            </a:r>
            <a:endParaRPr lang="en-US" sz="9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0458" y="3916673"/>
            <a:ext cx="107156" cy="17145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741914" y="3792550"/>
            <a:ext cx="1687711" cy="400050"/>
          </a:xfrm>
          <a:prstGeom prst="rect">
            <a:avLst/>
          </a:prstGeom>
          <a:solidFill>
            <a:srgbClr val="FFFFFF"/>
          </a:solidFill>
          <a:ln w="9144">
            <a:solidFill>
              <a:srgbClr val="D1D9E6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6741914" y="3792550"/>
            <a:ext cx="1687711" cy="400050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Firebase 저장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77114"/>
            <a:ext cx="143768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LLM 활용 계획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119974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1116211"/>
            <a:ext cx="224492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DBE8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개발 도구 (Cursor &amp; Claude)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725866"/>
            <a:ext cx="11430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14363" y="1700213"/>
            <a:ext cx="68287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Cursor IDE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3"/>
          <p:cNvSpPr/>
          <p:nvPr/>
        </p:nvSpPr>
        <p:spPr>
          <a:xfrm>
            <a:off x="387063" y="1874480"/>
            <a:ext cx="3305841" cy="147797"/>
          </a:xfrm>
          <a:prstGeom prst="rect">
            <a:avLst/>
          </a:prstGeom>
          <a:noFill/>
          <a:ln/>
        </p:spPr>
        <p:txBody>
          <a:bodyPr wrap="none" lIns="22110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AI 코드 자동 완성 및 디버깅 보조로 Flutter/Python 개발 생산성 향상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394287"/>
            <a:ext cx="114300" cy="1143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14363" y="2361707"/>
            <a:ext cx="132873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Claude (Anthropic)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5"/>
          <p:cNvSpPr/>
          <p:nvPr/>
        </p:nvSpPr>
        <p:spPr>
          <a:xfrm>
            <a:off x="393990" y="2556756"/>
            <a:ext cx="2991653" cy="147797"/>
          </a:xfrm>
          <a:prstGeom prst="rect">
            <a:avLst/>
          </a:prstGeom>
          <a:noFill/>
          <a:ln/>
        </p:spPr>
        <p:txBody>
          <a:bodyPr wrap="none" lIns="22110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서비스 시나리오 정리, 문서 초안 생성, 프롬프트 설계 검토에 활용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041928"/>
            <a:ext cx="114300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14363" y="3023202"/>
            <a:ext cx="96180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GitHub Copilot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Text 7"/>
          <p:cNvSpPr/>
          <p:nvPr/>
        </p:nvSpPr>
        <p:spPr>
          <a:xfrm>
            <a:off x="407844" y="3176683"/>
            <a:ext cx="2243050" cy="147797"/>
          </a:xfrm>
          <a:prstGeom prst="rect">
            <a:avLst/>
          </a:prstGeom>
          <a:noFill/>
          <a:ln/>
        </p:spPr>
        <p:txBody>
          <a:bodyPr wrap="none" lIns="22110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반복 코드 패턴 자동화 및 테스트 코드 생성 지원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1126901"/>
            <a:ext cx="171450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43488" y="1116211"/>
            <a:ext cx="1048364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A500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API 키 활용 계획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725866"/>
            <a:ext cx="114300" cy="1143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972050" y="1700213"/>
            <a:ext cx="133409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Claude API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4751678" y="1874480"/>
            <a:ext cx="3135923" cy="147797"/>
          </a:xfrm>
          <a:prstGeom prst="rect">
            <a:avLst/>
          </a:prstGeom>
          <a:noFill/>
          <a:ln/>
        </p:spPr>
        <p:txBody>
          <a:bodyPr wrap="none" lIns="22110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공감 메시지 생성, 데일리 질문 자동 생성, 감정 기반 요약 리포트 제공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2387360"/>
            <a:ext cx="114300" cy="1143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972050" y="2361707"/>
            <a:ext cx="1641277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KoBERT (Hugging Face)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751678" y="2542902"/>
            <a:ext cx="2332818" cy="147797"/>
          </a:xfrm>
          <a:prstGeom prst="rect">
            <a:avLst/>
          </a:prstGeom>
          <a:noFill/>
          <a:ln/>
        </p:spPr>
        <p:txBody>
          <a:bodyPr wrap="none" lIns="22110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한국어 감정 분류 모델 파인튜닝 및 추론 API 구축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3240" y="3062709"/>
            <a:ext cx="114300" cy="1143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4972050" y="3023202"/>
            <a:ext cx="132695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Firebase Functions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4737824" y="3211323"/>
            <a:ext cx="2621359" cy="147797"/>
          </a:xfrm>
          <a:prstGeom prst="rect">
            <a:avLst/>
          </a:prstGeom>
          <a:noFill/>
          <a:ln/>
        </p:spPr>
        <p:txBody>
          <a:bodyPr wrap="none" lIns="22110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서버리스 백엔드로 API 요청 처리 및 데이터 저장 자동화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428625" y="4329113"/>
            <a:ext cx="8286750" cy="4572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6165" y="4471988"/>
            <a:ext cx="171450" cy="17145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2433340" y="4475559"/>
            <a:ext cx="45344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모든 API 키는 환경변수로 관리하며, Firebase Security Rules를 통해 접근 제어 및 보안 유지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15877" y="1428750"/>
            <a:ext cx="712246" cy="6386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kern="0" spc="2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02</a:t>
            </a:r>
            <a:endParaRPr lang="en-US" sz="4150" dirty="0">
              <a:solidFill>
                <a:schemeClr val="bg2">
                  <a:lumMod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12034" y="2276418"/>
            <a:ext cx="2319933" cy="438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요구사항 분석</a:t>
            </a:r>
            <a:endParaRPr lang="en-US" sz="2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28925" y="2780216"/>
            <a:ext cx="3486150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기능 요구사항, 비기능 요구사항, 타깃 사용자를 정의합니다</a:t>
            </a:r>
            <a:endParaRPr lang="en-US" sz="10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181451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기능 요구사항 요약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116211"/>
            <a:ext cx="2619356" cy="1621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116211"/>
            <a:ext cx="2619356" cy="2857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6" name="Shape 3"/>
          <p:cNvSpPr/>
          <p:nvPr/>
        </p:nvSpPr>
        <p:spPr>
          <a:xfrm>
            <a:off x="642938" y="1330523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430536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938" y="1816298"/>
            <a:ext cx="21907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감정 일기 작성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642938" y="2038785"/>
            <a:ext cx="2335789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KoBERT를 활용한 감정 자동 분석 및 카테고리 분류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62294" y="1116211"/>
            <a:ext cx="2619384" cy="1621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3262294" y="1116211"/>
            <a:ext cx="2619384" cy="2857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12" name="Shape 8"/>
          <p:cNvSpPr/>
          <p:nvPr/>
        </p:nvSpPr>
        <p:spPr>
          <a:xfrm>
            <a:off x="3476606" y="1330523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619" y="1430536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76606" y="1816298"/>
            <a:ext cx="219075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AI 공감 메시지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3476606" y="2011688"/>
            <a:ext cx="2405072" cy="315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Claude 기반 감정 맞춤형 따뜻한 </a:t>
            </a:r>
            <a:r>
              <a:rPr lang="en-US" sz="8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공감</a:t>
            </a: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sz="8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메시지</a:t>
            </a:r>
            <a:endParaRPr lang="en-US" sz="850" dirty="0">
              <a:solidFill>
                <a:srgbClr val="3C4043"/>
              </a:solidFill>
              <a:latin typeface="페이퍼로지 4 Regular" pitchFamily="2" charset="-127"/>
              <a:ea typeface="페이퍼로지 4 Regular" pitchFamily="2" charset="-127"/>
              <a:cs typeface="Noto Sans KR Medium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8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자동</a:t>
            </a: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생성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095991" y="1116211"/>
            <a:ext cx="2619356" cy="1621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6095991" y="1116211"/>
            <a:ext cx="2619356" cy="2857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18" name="Shape 13"/>
          <p:cNvSpPr/>
          <p:nvPr/>
        </p:nvSpPr>
        <p:spPr>
          <a:xfrm>
            <a:off x="6310303" y="1330523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16" y="1430536"/>
            <a:ext cx="142875" cy="1428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10303" y="1816298"/>
            <a:ext cx="21907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AI 데일리 질문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310303" y="2038787"/>
            <a:ext cx="2341861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 간 대화 유도를 위한 매일 새로운 맞춤형 질문 생성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28625" y="2923189"/>
            <a:ext cx="2619356" cy="1621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28625" y="2923189"/>
            <a:ext cx="2619356" cy="2857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24" name="Shape 18"/>
          <p:cNvSpPr/>
          <p:nvPr/>
        </p:nvSpPr>
        <p:spPr>
          <a:xfrm>
            <a:off x="642938" y="3137502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3237514"/>
            <a:ext cx="142875" cy="1428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2938" y="3623277"/>
            <a:ext cx="21907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가족 정원 성장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642938" y="3831907"/>
            <a:ext cx="2335789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소통 활동량에 따른 공동 캐릭터 및 정원 성장 시스템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3262294" y="2923189"/>
            <a:ext cx="2619384" cy="1621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2"/>
          <p:cNvSpPr/>
          <p:nvPr/>
        </p:nvSpPr>
        <p:spPr>
          <a:xfrm>
            <a:off x="3262294" y="2923189"/>
            <a:ext cx="2619384" cy="2857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30" name="Shape 23"/>
          <p:cNvSpPr/>
          <p:nvPr/>
        </p:nvSpPr>
        <p:spPr>
          <a:xfrm>
            <a:off x="3476606" y="3137502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5549" y="3237514"/>
            <a:ext cx="125016" cy="14287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76606" y="3623277"/>
            <a:ext cx="219075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스마트 일정 공유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3476606" y="3831910"/>
            <a:ext cx="1542089" cy="1477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 공동 일정 등록, 조회, 알림 기능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6095991" y="2923189"/>
            <a:ext cx="2619356" cy="1621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7"/>
          <p:cNvSpPr/>
          <p:nvPr/>
        </p:nvSpPr>
        <p:spPr>
          <a:xfrm>
            <a:off x="6095991" y="2923189"/>
            <a:ext cx="2619356" cy="2857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36" name="Shape 28"/>
          <p:cNvSpPr/>
          <p:nvPr/>
        </p:nvSpPr>
        <p:spPr>
          <a:xfrm>
            <a:off x="6310303" y="3137502"/>
            <a:ext cx="342900" cy="34290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245" y="3237514"/>
            <a:ext cx="125016" cy="14287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10303" y="3623277"/>
            <a:ext cx="219073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알림 및 리포트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9" name="Text 30"/>
          <p:cNvSpPr/>
          <p:nvPr/>
        </p:nvSpPr>
        <p:spPr>
          <a:xfrm>
            <a:off x="6310303" y="3831910"/>
            <a:ext cx="2190731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주간/월간 감정 리포트 및 가족 소통 현황 알림 제공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76737"/>
            <a:ext cx="251102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기능 요구사항 상세 정의서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4" y="906228"/>
            <a:ext cx="8374649" cy="40880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909800"/>
            <a:ext cx="993539" cy="378619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909800"/>
            <a:ext cx="993539" cy="378619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ID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425736" y="909800"/>
            <a:ext cx="1076334" cy="378619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25736" y="909800"/>
            <a:ext cx="1076334" cy="378619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요구사항명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502071" y="909800"/>
            <a:ext cx="2897879" cy="378619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02071" y="909800"/>
            <a:ext cx="2897879" cy="37861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요구사항 설명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399949" y="909800"/>
            <a:ext cx="827949" cy="378619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9949" y="909800"/>
            <a:ext cx="827949" cy="378619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중요도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227899" y="909800"/>
            <a:ext cx="827949" cy="378619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7899" y="909800"/>
            <a:ext cx="827949" cy="378619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난이도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055848" y="909800"/>
            <a:ext cx="1747425" cy="378619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55848" y="909800"/>
            <a:ext cx="1655955" cy="37861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수용기준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32197" y="1281275"/>
            <a:ext cx="99353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SRS-FR-001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425736" y="1281275"/>
            <a:ext cx="1076334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홈화면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502071" y="1281275"/>
            <a:ext cx="2897879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오늘의 감정 분석 결과 및 가족 활동 현황 표시, 맞춤 대화 주제 제공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628187" y="1437545"/>
            <a:ext cx="371475" cy="216098"/>
          </a:xfrm>
          <a:prstGeom prst="rect">
            <a:avLst/>
          </a:prstGeom>
          <a:solidFill>
            <a:srgbClr val="FFF3D6"/>
          </a:solidFill>
          <a:ln w="9144">
            <a:solidFill>
              <a:srgbClr val="F0A5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28187" y="1437545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509714" y="1444688"/>
            <a:ext cx="264319" cy="20181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3" name="Text 20"/>
          <p:cNvSpPr/>
          <p:nvPr/>
        </p:nvSpPr>
        <p:spPr>
          <a:xfrm>
            <a:off x="6509714" y="1444688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상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938635" y="1399304"/>
            <a:ext cx="1890379" cy="377924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분석 정확도 90%, 표시 시간 5초 이내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32197" y="1809913"/>
            <a:ext cx="993539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SRS-FR-002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25736" y="1809913"/>
            <a:ext cx="1076334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감정 기록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2502071" y="1809913"/>
            <a:ext cx="2897879" cy="42326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텍스트 일기 형태로 감정 입력 및 저장 (KoBERT 분석 연동)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628187" y="1913497"/>
            <a:ext cx="371475" cy="216098"/>
          </a:xfrm>
          <a:prstGeom prst="rect">
            <a:avLst/>
          </a:prstGeom>
          <a:solidFill>
            <a:srgbClr val="FFF3D6"/>
          </a:solidFill>
          <a:ln w="9144">
            <a:solidFill>
              <a:srgbClr val="F0A5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28187" y="1913497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6509714" y="1913497"/>
            <a:ext cx="264319" cy="20181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1" name="Text 28"/>
          <p:cNvSpPr/>
          <p:nvPr/>
        </p:nvSpPr>
        <p:spPr>
          <a:xfrm>
            <a:off x="6509714" y="1913497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상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062992" y="1823212"/>
            <a:ext cx="1655955" cy="377924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등록 완료까지 10초 이내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32197" y="2218892"/>
            <a:ext cx="99353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SRS-FR-003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425736" y="2218892"/>
            <a:ext cx="1076334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감정 분석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2502071" y="2218892"/>
            <a:ext cx="2897879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KoBERT 기반 한국어 감정 분류 (긍정/부정/중립 다중 분류)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628187" y="2375162"/>
            <a:ext cx="371475" cy="216098"/>
          </a:xfrm>
          <a:prstGeom prst="rect">
            <a:avLst/>
          </a:prstGeom>
          <a:solidFill>
            <a:srgbClr val="FFF3D6"/>
          </a:solidFill>
          <a:ln w="9144">
            <a:solidFill>
              <a:srgbClr val="F0A5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28187" y="2375162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6509714" y="2382305"/>
            <a:ext cx="264319" cy="20181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9" name="Text 36"/>
          <p:cNvSpPr/>
          <p:nvPr/>
        </p:nvSpPr>
        <p:spPr>
          <a:xfrm>
            <a:off x="6509714" y="2382305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상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6891244" y="2293066"/>
            <a:ext cx="1937770" cy="377924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분석 시간 5초 이내, F1-Score 0.8 이상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32197" y="2747530"/>
            <a:ext cx="99353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SRS-FR-004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1425736" y="2747530"/>
            <a:ext cx="1076334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AI 질문 생성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2502071" y="2822887"/>
            <a:ext cx="2897879" cy="377924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Claude API 기반 가족 간 자연스러운 대화 주제 자동 생성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628187" y="2903799"/>
            <a:ext cx="371475" cy="216098"/>
          </a:xfrm>
          <a:prstGeom prst="rect">
            <a:avLst/>
          </a:prstGeom>
          <a:solidFill>
            <a:srgbClr val="FFF3D6"/>
          </a:solidFill>
          <a:ln w="9144">
            <a:solidFill>
              <a:srgbClr val="F0A50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628187" y="2903799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6509714" y="2910943"/>
            <a:ext cx="264319" cy="20181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7" name="Text 44"/>
          <p:cNvSpPr/>
          <p:nvPr/>
        </p:nvSpPr>
        <p:spPr>
          <a:xfrm>
            <a:off x="6509714" y="2910943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상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917943" y="2822887"/>
            <a:ext cx="1885331" cy="377924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생성 시간 10초 이내, 일 1회 이상 제공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32197" y="3276167"/>
            <a:ext cx="993539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SRS-FR-005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1425736" y="3276167"/>
            <a:ext cx="1076334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공유캘린더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2502071" y="3276167"/>
            <a:ext cx="2897879" cy="42326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가족 공동 일정 등록, 조회, 알림 기능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628187" y="3379752"/>
            <a:ext cx="371475" cy="216098"/>
          </a:xfrm>
          <a:prstGeom prst="rect">
            <a:avLst/>
          </a:prstGeom>
          <a:solidFill>
            <a:srgbClr val="FFF3D6"/>
          </a:solidFill>
          <a:ln w="9144">
            <a:solidFill>
              <a:srgbClr val="F0A5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28187" y="3379752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6509714" y="3379752"/>
            <a:ext cx="264319" cy="201811"/>
          </a:xfrm>
          <a:prstGeom prst="rect">
            <a:avLst/>
          </a:prstGeom>
          <a:solidFill>
            <a:srgbClr val="4A5B7A"/>
          </a:solidFill>
          <a:ln/>
        </p:spPr>
      </p:sp>
      <p:sp>
        <p:nvSpPr>
          <p:cNvPr id="55" name="Text 52"/>
          <p:cNvSpPr/>
          <p:nvPr/>
        </p:nvSpPr>
        <p:spPr>
          <a:xfrm>
            <a:off x="6509714" y="3379752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7055848" y="3291694"/>
            <a:ext cx="1655955" cy="377924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입력 완료까지 10초 이내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432197" y="3685147"/>
            <a:ext cx="993539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SRS-FR-006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1425736" y="3685147"/>
            <a:ext cx="1076334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캐릭터 성장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2502071" y="3685147"/>
            <a:ext cx="2897879" cy="42326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활동량에 따라 캐릭터·정원이 성장하는 게임형 UI 제공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5628187" y="3788731"/>
            <a:ext cx="371475" cy="216098"/>
          </a:xfrm>
          <a:prstGeom prst="rect">
            <a:avLst/>
          </a:prstGeom>
          <a:solidFill>
            <a:srgbClr val="E8F5E9"/>
          </a:solidFill>
          <a:ln w="9144">
            <a:solidFill>
              <a:srgbClr val="3DBE8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628187" y="3788731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BE8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보통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6509714" y="3788731"/>
            <a:ext cx="264319" cy="201811"/>
          </a:xfrm>
          <a:prstGeom prst="rect">
            <a:avLst/>
          </a:prstGeom>
          <a:solidFill>
            <a:srgbClr val="4A5B7A"/>
          </a:solidFill>
          <a:ln/>
        </p:spPr>
      </p:sp>
      <p:sp>
        <p:nvSpPr>
          <p:cNvPr id="63" name="Text 60"/>
          <p:cNvSpPr/>
          <p:nvPr/>
        </p:nvSpPr>
        <p:spPr>
          <a:xfrm>
            <a:off x="6509714" y="3788731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7055848" y="3700675"/>
            <a:ext cx="1663099" cy="377924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활동 반영 시간 1분 이내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32197" y="4094127"/>
            <a:ext cx="993539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SRS-FR-007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1425736" y="4094127"/>
            <a:ext cx="1076334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타임캡슐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2502071" y="4094127"/>
            <a:ext cx="2897879" cy="42326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감정 데이터 아카이빙 및 과거 기록 회고 기능 제공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5628187" y="4197711"/>
            <a:ext cx="371475" cy="216098"/>
          </a:xfrm>
          <a:prstGeom prst="rect">
            <a:avLst/>
          </a:prstGeom>
          <a:solidFill>
            <a:srgbClr val="E8F5E9"/>
          </a:solidFill>
          <a:ln w="9144">
            <a:solidFill>
              <a:srgbClr val="3DBE8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628187" y="4197711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BE8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보통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6509714" y="4197711"/>
            <a:ext cx="264319" cy="201811"/>
          </a:xfrm>
          <a:prstGeom prst="rect">
            <a:avLst/>
          </a:prstGeom>
          <a:solidFill>
            <a:srgbClr val="4A5B7A"/>
          </a:solidFill>
          <a:ln/>
        </p:spPr>
      </p:sp>
      <p:sp>
        <p:nvSpPr>
          <p:cNvPr id="71" name="Text 68"/>
          <p:cNvSpPr/>
          <p:nvPr/>
        </p:nvSpPr>
        <p:spPr>
          <a:xfrm>
            <a:off x="6509714" y="4197711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7055848" y="4109655"/>
            <a:ext cx="1655955" cy="377924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조회 시간 5초 이내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432197" y="4503106"/>
            <a:ext cx="993539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C4043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SRS-FR-008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1425736" y="4503106"/>
            <a:ext cx="1076334" cy="423267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계정 관리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2502071" y="4503106"/>
            <a:ext cx="2897879" cy="423267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회원가입, 로그인, 로그아웃 (Firebase Auth 연동)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5628187" y="4606691"/>
            <a:ext cx="371475" cy="216098"/>
          </a:xfrm>
          <a:prstGeom prst="rect">
            <a:avLst/>
          </a:prstGeom>
          <a:solidFill>
            <a:srgbClr val="E8F5E9"/>
          </a:solidFill>
          <a:ln w="9144">
            <a:solidFill>
              <a:srgbClr val="3DBE8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628187" y="4606691"/>
            <a:ext cx="371475" cy="21609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BE8A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보통</a:t>
            </a:r>
            <a:endParaRPr lang="en-US" sz="700" dirty="0"/>
          </a:p>
        </p:txBody>
      </p:sp>
      <p:sp>
        <p:nvSpPr>
          <p:cNvPr id="78" name="Shape 75"/>
          <p:cNvSpPr/>
          <p:nvPr/>
        </p:nvSpPr>
        <p:spPr>
          <a:xfrm>
            <a:off x="6509714" y="4606691"/>
            <a:ext cx="264319" cy="201811"/>
          </a:xfrm>
          <a:prstGeom prst="rect">
            <a:avLst/>
          </a:prstGeom>
          <a:solidFill>
            <a:srgbClr val="A0AABF"/>
          </a:solidFill>
          <a:ln/>
        </p:spPr>
      </p:sp>
      <p:sp>
        <p:nvSpPr>
          <p:cNvPr id="79" name="Text 76"/>
          <p:cNvSpPr/>
          <p:nvPr/>
        </p:nvSpPr>
        <p:spPr>
          <a:xfrm>
            <a:off x="6509714" y="4606691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하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7055848" y="4518634"/>
            <a:ext cx="1655955" cy="377924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로그인 3초 내 완료, 중복 차단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2159758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비기능 요구사항 요약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116211"/>
            <a:ext cx="4266190" cy="1573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1401961"/>
            <a:ext cx="342900" cy="342900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47" y="1501973"/>
            <a:ext cx="107156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3085" y="1497777"/>
            <a:ext cx="94362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성능 및 정확도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714375" y="1954625"/>
            <a:ext cx="3656734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감정 분석 5초 이내 응답 및 KoBERT 모델 F1-Score 0.80 이상의 높은 정확도 확보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714875" y="1116211"/>
            <a:ext cx="4000500" cy="1573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5000625" y="1401961"/>
            <a:ext cx="342900" cy="342900"/>
          </a:xfrm>
          <a:prstGeom prst="ellipse">
            <a:avLst/>
          </a:prstGeom>
          <a:solidFill>
            <a:srgbClr val="3DBE8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0638" y="1501973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09336" y="1497777"/>
            <a:ext cx="43591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안정성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000625" y="1954625"/>
            <a:ext cx="3656734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Firebase 기반 가용성 99.5% 유지 및 안정적인 데이터 저장/관리 환경 구축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28625" y="2974981"/>
            <a:ext cx="4000500" cy="1573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714375" y="3260731"/>
            <a:ext cx="342900" cy="342900"/>
          </a:xfrm>
          <a:prstGeom prst="ellipse">
            <a:avLst/>
          </a:prstGeom>
          <a:solidFill>
            <a:srgbClr val="4A90E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317" y="3360744"/>
            <a:ext cx="125016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23086" y="3356548"/>
            <a:ext cx="108892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보안성 및 사용성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14375" y="3813395"/>
            <a:ext cx="3656734" cy="315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AES256 암호화 및 비식별화 처리로 데이터 보안 강화, 3회 클릭 이내 핵심 기능 접근 보장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714875" y="2974981"/>
            <a:ext cx="4000500" cy="1573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5000625" y="3260731"/>
            <a:ext cx="342900" cy="342900"/>
          </a:xfrm>
          <a:prstGeom prst="ellipse">
            <a:avLst/>
          </a:prstGeom>
          <a:solidFill>
            <a:srgbClr val="9B51E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0638" y="3360744"/>
            <a:ext cx="142875" cy="1428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09336" y="3356548"/>
            <a:ext cx="43591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확장성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5000625" y="3813395"/>
            <a:ext cx="3153963" cy="14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동시 사용자 100명 이상 처리가 가능한 수평 확장 가능 아키텍처 설계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272176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비기능 요구사항 상세 정의서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258890"/>
            <a:ext cx="8286750" cy="3071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1262461"/>
            <a:ext cx="993539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1262461"/>
            <a:ext cx="993539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ID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425736" y="1262461"/>
            <a:ext cx="1076334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25736" y="1262461"/>
            <a:ext cx="1076334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요구사항명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502071" y="1262461"/>
            <a:ext cx="2897879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02071" y="1262461"/>
            <a:ext cx="2897879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요구사항 설명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399949" y="1262461"/>
            <a:ext cx="827949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9949" y="1262461"/>
            <a:ext cx="827949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중요도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227899" y="1262461"/>
            <a:ext cx="827949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27899" y="1262461"/>
            <a:ext cx="827949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난이도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055848" y="1262461"/>
            <a:ext cx="1655955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55848" y="1262461"/>
            <a:ext cx="1655955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수용기준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32197" y="1626793"/>
            <a:ext cx="993539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SRS-NFR-001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425736" y="1626793"/>
            <a:ext cx="1076334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응답 성능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502071" y="1626793"/>
            <a:ext cx="2897879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감정 분석 요청에 대해 5초 이내 응답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635330" y="1730377"/>
            <a:ext cx="357188" cy="201811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1" name="Text 18"/>
          <p:cNvSpPr/>
          <p:nvPr/>
        </p:nvSpPr>
        <p:spPr>
          <a:xfrm>
            <a:off x="5635330" y="1730377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509714" y="1730377"/>
            <a:ext cx="264319" cy="201811"/>
          </a:xfrm>
          <a:prstGeom prst="rect">
            <a:avLst/>
          </a:prstGeom>
          <a:solidFill>
            <a:srgbClr val="5C7290"/>
          </a:solidFill>
          <a:ln/>
        </p:spPr>
      </p:sp>
      <p:sp>
        <p:nvSpPr>
          <p:cNvPr id="23" name="Text 20"/>
          <p:cNvSpPr/>
          <p:nvPr/>
        </p:nvSpPr>
        <p:spPr>
          <a:xfrm>
            <a:off x="6509714" y="1730377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055848" y="1626793"/>
            <a:ext cx="1655955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부하 테스트 충족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32197" y="2035772"/>
            <a:ext cx="993539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SRS-NFR-002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425736" y="2035772"/>
            <a:ext cx="1076334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서버 가용성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502071" y="2035772"/>
            <a:ext cx="2897879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서비스 가용성 99.5% 이상 유지 (Firebase 기반)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635330" y="2139357"/>
            <a:ext cx="357188" cy="201811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Text 26"/>
          <p:cNvSpPr/>
          <p:nvPr/>
        </p:nvSpPr>
        <p:spPr>
          <a:xfrm>
            <a:off x="5635330" y="2139357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6509714" y="2139357"/>
            <a:ext cx="264319" cy="20181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1" name="Text 28"/>
          <p:cNvSpPr/>
          <p:nvPr/>
        </p:nvSpPr>
        <p:spPr>
          <a:xfrm>
            <a:off x="6509714" y="2139357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상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055848" y="2035772"/>
            <a:ext cx="1655955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가용성 유지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32197" y="2444752"/>
            <a:ext cx="99353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SRS-NFR-003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425736" y="2444752"/>
            <a:ext cx="1076334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보안성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502071" y="2444752"/>
            <a:ext cx="2897879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사용자 계정 및 감정정보 AES256 암호화 저장, 개인정보 비식별화 처리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635330" y="2608165"/>
            <a:ext cx="357188" cy="201811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37" name="Text 34"/>
          <p:cNvSpPr/>
          <p:nvPr/>
        </p:nvSpPr>
        <p:spPr>
          <a:xfrm>
            <a:off x="5635330" y="2608165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보통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6509714" y="2608165"/>
            <a:ext cx="264319" cy="201811"/>
          </a:xfrm>
          <a:prstGeom prst="rect">
            <a:avLst/>
          </a:prstGeom>
          <a:solidFill>
            <a:srgbClr val="5C7290"/>
          </a:solidFill>
          <a:ln/>
        </p:spPr>
      </p:sp>
      <p:sp>
        <p:nvSpPr>
          <p:cNvPr id="39" name="Text 36"/>
          <p:cNvSpPr/>
          <p:nvPr/>
        </p:nvSpPr>
        <p:spPr>
          <a:xfrm>
            <a:off x="6509714" y="2608165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7055848" y="2444752"/>
            <a:ext cx="1655955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암호화 검증 통과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32197" y="2973390"/>
            <a:ext cx="99353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SRS-NFR-004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425736" y="2973390"/>
            <a:ext cx="1076334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사용성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2502071" y="2973390"/>
            <a:ext cx="2897879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주요 기능 (감정 기록, 캘린더, 캐릭터) 3회 이내 클릭으로 접근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635330" y="3136803"/>
            <a:ext cx="357188" cy="201811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45" name="Text 42"/>
          <p:cNvSpPr/>
          <p:nvPr/>
        </p:nvSpPr>
        <p:spPr>
          <a:xfrm>
            <a:off x="5635330" y="3136803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보통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6509714" y="3136803"/>
            <a:ext cx="264319" cy="201811"/>
          </a:xfrm>
          <a:prstGeom prst="rect">
            <a:avLst/>
          </a:prstGeom>
          <a:solidFill>
            <a:srgbClr val="5C7290"/>
          </a:solidFill>
          <a:ln/>
        </p:spPr>
      </p:sp>
      <p:sp>
        <p:nvSpPr>
          <p:cNvPr id="47" name="Text 44"/>
          <p:cNvSpPr/>
          <p:nvPr/>
        </p:nvSpPr>
        <p:spPr>
          <a:xfrm>
            <a:off x="6509714" y="3136803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중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7055848" y="2973390"/>
            <a:ext cx="1655955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사용성 테스트 통과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32197" y="3502027"/>
            <a:ext cx="993539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SRS-NFR-005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1425736" y="3502027"/>
            <a:ext cx="1076334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확장성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2502071" y="3502027"/>
            <a:ext cx="2897879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사용자 수 증가 시 수평 확장 가능한 아키텍처 구성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635330" y="3605611"/>
            <a:ext cx="357188" cy="201811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53" name="Text 50"/>
          <p:cNvSpPr/>
          <p:nvPr/>
        </p:nvSpPr>
        <p:spPr>
          <a:xfrm>
            <a:off x="5635330" y="3605611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보통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6509714" y="3605611"/>
            <a:ext cx="264319" cy="20181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55" name="Text 52"/>
          <p:cNvSpPr/>
          <p:nvPr/>
        </p:nvSpPr>
        <p:spPr>
          <a:xfrm>
            <a:off x="6509714" y="3605611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상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7055848" y="3502027"/>
            <a:ext cx="1655955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동시 사용자 100명 이상 처리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432197" y="3911007"/>
            <a:ext cx="993539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SRS-NFR-006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425736" y="3911007"/>
            <a:ext cx="1076334" cy="408980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AI 정확도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2502071" y="3911007"/>
            <a:ext cx="2897879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KoBERT 감정 분류 F1-Score 0.80 이상 달성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5635330" y="4014591"/>
            <a:ext cx="357188" cy="201811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1" name="Text 58"/>
          <p:cNvSpPr/>
          <p:nvPr/>
        </p:nvSpPr>
        <p:spPr>
          <a:xfrm>
            <a:off x="5635330" y="4014591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높음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6509714" y="4014591"/>
            <a:ext cx="264319" cy="20181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63" name="Text 60"/>
          <p:cNvSpPr/>
          <p:nvPr/>
        </p:nvSpPr>
        <p:spPr>
          <a:xfrm>
            <a:off x="6509714" y="4014591"/>
            <a:ext cx="264319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상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7055848" y="3911007"/>
            <a:ext cx="1655955" cy="408980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모델 평가 지표 충족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63260"/>
            <a:ext cx="299680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요구사항 우선순위 및 변경 이력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044773"/>
            <a:ext cx="2666991" cy="1343025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5" name="Text 2"/>
          <p:cNvSpPr/>
          <p:nvPr/>
        </p:nvSpPr>
        <p:spPr>
          <a:xfrm>
            <a:off x="1426276" y="1216223"/>
            <a:ext cx="671659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기능 요구사항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18450" y="1489472"/>
            <a:ext cx="487313" cy="3770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8건</a:t>
            </a:r>
            <a:endParaRPr lang="en-US" sz="24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48532" y="2071688"/>
            <a:ext cx="827151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FR-001 ~ FR-008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38491" y="1044773"/>
            <a:ext cx="2666991" cy="1343025"/>
          </a:xfrm>
          <a:prstGeom prst="rect">
            <a:avLst/>
          </a:prstGeom>
          <a:solidFill>
            <a:srgbClr val="2D8C9B"/>
          </a:solidFill>
          <a:ln/>
        </p:spPr>
      </p:sp>
      <p:sp>
        <p:nvSpPr>
          <p:cNvPr id="9" name="Text 6"/>
          <p:cNvSpPr/>
          <p:nvPr/>
        </p:nvSpPr>
        <p:spPr>
          <a:xfrm>
            <a:off x="4182442" y="1216223"/>
            <a:ext cx="779059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비기능 요구사항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28315" y="1489472"/>
            <a:ext cx="487313" cy="3770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6건</a:t>
            </a:r>
            <a:endParaRPr lang="en-US" sz="24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79850" y="2071688"/>
            <a:ext cx="98424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NFR-001 ~ NFR-006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048356" y="1044773"/>
            <a:ext cx="2666991" cy="134302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13" name="Text 10"/>
          <p:cNvSpPr/>
          <p:nvPr/>
        </p:nvSpPr>
        <p:spPr>
          <a:xfrm>
            <a:off x="7153410" y="1216223"/>
            <a:ext cx="456855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수용 완료</a:t>
            </a:r>
            <a:endParaRPr lang="en-US" sz="9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033185" y="1489472"/>
            <a:ext cx="697306" cy="3770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14건</a:t>
            </a:r>
            <a:endParaRPr lang="en-US" sz="24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19559" y="2071688"/>
            <a:ext cx="724557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전체 수용 (100%)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705695"/>
            <a:ext cx="142875" cy="1428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2938" y="2708183"/>
            <a:ext cx="154840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변경 이력 (Change Log</a:t>
            </a:r>
            <a:r>
              <a:rPr lang="en-US" sz="100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28625" y="2995017"/>
            <a:ext cx="8286750" cy="16430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15"/>
          <p:cNvSpPr/>
          <p:nvPr/>
        </p:nvSpPr>
        <p:spPr>
          <a:xfrm>
            <a:off x="432197" y="2998589"/>
            <a:ext cx="993539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2197" y="2998589"/>
            <a:ext cx="993539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변경 ID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1425736" y="2998589"/>
            <a:ext cx="827949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425736" y="2998589"/>
            <a:ext cx="827949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구분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2253686" y="2998589"/>
            <a:ext cx="2732261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253686" y="2998589"/>
            <a:ext cx="2732261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변경 내용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985947" y="2998589"/>
            <a:ext cx="2069902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85947" y="2998589"/>
            <a:ext cx="2069902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변경 사유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7055848" y="2998589"/>
            <a:ext cx="827949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055848" y="2998589"/>
            <a:ext cx="827949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변경일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883798" y="2998589"/>
            <a:ext cx="828005" cy="371475"/>
          </a:xfrm>
          <a:prstGeom prst="rect">
            <a:avLst/>
          </a:prstGeom>
          <a:solidFill>
            <a:srgbClr val="1A2B4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883798" y="2998589"/>
            <a:ext cx="828005" cy="371475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비고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32197" y="3570089"/>
            <a:ext cx="99353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CHG-002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1661117" y="3733502"/>
            <a:ext cx="357188" cy="201811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33" name="Text 29"/>
          <p:cNvSpPr/>
          <p:nvPr/>
        </p:nvSpPr>
        <p:spPr>
          <a:xfrm>
            <a:off x="1661117" y="3733502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추가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2371558" y="3675459"/>
            <a:ext cx="14608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SRS-FR-007 타임캡슐 기능 추가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2371558" y="3836194"/>
            <a:ext cx="10197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(감정 데이터 아카이빙)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985947" y="3570089"/>
            <a:ext cx="2069902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사용자경험 강화 및 장기 참여 유도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055848" y="3570089"/>
            <a:ext cx="82794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2026.05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7883798" y="3570089"/>
            <a:ext cx="828005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최종 반영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32197" y="4098727"/>
            <a:ext cx="99353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CHG-003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1661117" y="4262140"/>
            <a:ext cx="357188" cy="201811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1" name="Text 37"/>
          <p:cNvSpPr/>
          <p:nvPr/>
        </p:nvSpPr>
        <p:spPr>
          <a:xfrm>
            <a:off x="1661117" y="4262140"/>
            <a:ext cx="357188" cy="201811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수정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2371558" y="4204097"/>
            <a:ext cx="13430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SRS-NFR-001 응답 시간 기준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2371558" y="4364831"/>
            <a:ext cx="13716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2초 → 5초 (AI 분석 특성 반영)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985947" y="4098727"/>
            <a:ext cx="2069902" cy="5286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KoBERT 모델 추론 시간 고려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7055848" y="4098727"/>
            <a:ext cx="827949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2026.05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7883798" y="4098727"/>
            <a:ext cx="828005" cy="528638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3C4043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최종 반영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1603772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타깃 사용자 정의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946547"/>
            <a:ext cx="8286750" cy="9876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211759"/>
            <a:ext cx="457200" cy="457200"/>
          </a:xfrm>
          <a:prstGeom prst="ellipse">
            <a:avLst/>
          </a:prstGeom>
          <a:solidFill>
            <a:srgbClr val="FFF3D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22" y="1340346"/>
            <a:ext cx="250031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14451" y="1180176"/>
            <a:ext cx="136267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핵가족 (부모 + 자녀)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2487434" y="1193787"/>
            <a:ext cx="3116461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바쁜 일상으로 대화 시간이 줄어든 30~50대 부모와 10~20대 자녀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1271588" y="1430536"/>
            <a:ext cx="7229475" cy="33218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6"/>
          <p:cNvSpPr/>
          <p:nvPr/>
        </p:nvSpPr>
        <p:spPr>
          <a:xfrm>
            <a:off x="1271588" y="1430536"/>
            <a:ext cx="7229475" cy="3379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시나리오:</a:t>
            </a:r>
            <a:r>
              <a:rPr lang="en-US" sz="800" dirty="0">
                <a:solidFill>
                  <a:srgbClr val="5C606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 </a:t>
            </a:r>
            <a:r>
              <a:rPr lang="en-US" sz="800" dirty="0" err="1">
                <a:solidFill>
                  <a:srgbClr val="5C606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자녀가</a:t>
            </a:r>
            <a:r>
              <a:rPr lang="en-US" sz="800" dirty="0">
                <a:solidFill>
                  <a:srgbClr val="5C606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감정 일기를 작성하면 AI가 부모에게 공감 메시지를 전달하고, 가족 정원이 함께 성장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28625" y="2077045"/>
            <a:ext cx="8286750" cy="9876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642938" y="2342257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023" y="2470845"/>
            <a:ext cx="225028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4451" y="2290098"/>
            <a:ext cx="1061188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조부모 포함 대가족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2487434" y="2307070"/>
            <a:ext cx="2996803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지리적으로 떨어진 조부모와 손자녀 세대 간 소통이 필요한 가족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1271588" y="2561034"/>
            <a:ext cx="7229475" cy="33218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Text 12"/>
          <p:cNvSpPr/>
          <p:nvPr/>
        </p:nvSpPr>
        <p:spPr>
          <a:xfrm>
            <a:off x="1271588" y="2561034"/>
            <a:ext cx="7229475" cy="3379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3DBE8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시나리오:</a:t>
            </a:r>
            <a:r>
              <a:rPr lang="en-US" sz="800" dirty="0">
                <a:solidFill>
                  <a:srgbClr val="5C606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 AI 데일리 질문으로 세대 간 공통 화제를 제공하고, 타임캡슐 기능으로 추억 공유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28625" y="3207544"/>
            <a:ext cx="8286750" cy="9876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938" y="3472755"/>
            <a:ext cx="457200" cy="457200"/>
          </a:xfrm>
          <a:prstGeom prst="ellipse">
            <a:avLst/>
          </a:prstGeom>
          <a:solidFill>
            <a:srgbClr val="E3F2F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27" y="3601343"/>
            <a:ext cx="175022" cy="2000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14451" y="3420597"/>
            <a:ext cx="780663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1인 가구 청년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2487434" y="3444496"/>
            <a:ext cx="2793206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독립 후 가족과의 연락이 줄어든 20~30대 직장인 및 대학생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1271588" y="3691533"/>
            <a:ext cx="7229475" cy="33218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Text 18"/>
          <p:cNvSpPr/>
          <p:nvPr/>
        </p:nvSpPr>
        <p:spPr>
          <a:xfrm>
            <a:off x="1271588" y="3691533"/>
            <a:ext cx="7229475" cy="3379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A90E2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시나리오:</a:t>
            </a:r>
            <a:r>
              <a:rPr lang="en-US" sz="800" dirty="0">
                <a:solidFill>
                  <a:srgbClr val="5C6063"/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 바쁜 일상 속 짧은 감정 기록만으로도 가족과 연결되는 경험 제공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28625" y="4398484"/>
            <a:ext cx="8286750" cy="542925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4569934"/>
            <a:ext cx="200025" cy="2000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7263" y="4576184"/>
            <a:ext cx="6134695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주요 타깃은 가족 전체 구성원이며, 특히 소통 단절을 느끼는 20~50대 가족 구성원을 핵심 사용자로 설정합니다.</a:t>
            </a:r>
            <a:endParaRPr lang="en-US" sz="9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70860"/>
            <a:ext cx="236458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주요 서비스 시나리오 01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1287661"/>
            <a:ext cx="2619384" cy="3286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116211"/>
            <a:ext cx="342900" cy="3429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6" name="Text 3"/>
          <p:cNvSpPr/>
          <p:nvPr/>
        </p:nvSpPr>
        <p:spPr>
          <a:xfrm>
            <a:off x="642938" y="1116211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01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644848"/>
            <a:ext cx="2190759" cy="400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938" y="2216348"/>
            <a:ext cx="219075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로그인 / 회원가입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642938" y="2636044"/>
            <a:ext cx="1940724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앱 실행 후 로그인 또는 회원가입 화면 이동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42938" y="2933207"/>
            <a:ext cx="1753172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이름, 이메일, 비밀번호, 생년월일 입력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2938" y="3230370"/>
            <a:ext cx="1940724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가입 완료 후 가족 초대 화면으로 자동 전환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262322" y="1287661"/>
            <a:ext cx="2619384" cy="3286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642938" y="2636044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42938" y="2933207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2938" y="3230370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476634" y="1116211"/>
            <a:ext cx="342900" cy="3429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7" name="Text 13"/>
          <p:cNvSpPr/>
          <p:nvPr/>
        </p:nvSpPr>
        <p:spPr>
          <a:xfrm>
            <a:off x="3563125" y="1210717"/>
            <a:ext cx="16991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02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634" y="1644848"/>
            <a:ext cx="2190759" cy="4000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76634" y="2216348"/>
            <a:ext cx="219075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가족 초대 및 연결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476634" y="2636044"/>
            <a:ext cx="1504707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 내 역할(아빠, 엄마 등) 선택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3476634" y="2933207"/>
            <a:ext cx="1748364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새 그룹 생성 또는 초대 코드 입력 참여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3476634" y="3230370"/>
            <a:ext cx="1713098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카카오톡/문자로 초대 코드 간편 공유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096019" y="1287661"/>
            <a:ext cx="2619384" cy="3286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9"/>
          <p:cNvSpPr/>
          <p:nvPr/>
        </p:nvSpPr>
        <p:spPr>
          <a:xfrm>
            <a:off x="3476634" y="2636044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3476634" y="2933207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476634" y="3230370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6310331" y="1116211"/>
            <a:ext cx="342900" cy="3429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8" name="Text 23"/>
          <p:cNvSpPr/>
          <p:nvPr/>
        </p:nvSpPr>
        <p:spPr>
          <a:xfrm>
            <a:off x="6396822" y="1210717"/>
            <a:ext cx="16991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03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331" y="1644848"/>
            <a:ext cx="2190759" cy="40005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310331" y="2216348"/>
            <a:ext cx="219075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메인 홈 &amp; 데일리 질문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6310331" y="2636044"/>
            <a:ext cx="1810880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AI 생성 '오늘의 가족 질문' 확인 및 답변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6310331" y="2891515"/>
            <a:ext cx="2177969" cy="315214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ko-KR" alt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오늘 나의 무드</a:t>
            </a: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태그(#따뜻함 #기쁨 등) </a:t>
            </a:r>
            <a:r>
              <a:rPr lang="en-US" sz="8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선택</a:t>
            </a: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ko-KR" alt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후</a:t>
            </a:r>
            <a:endParaRPr lang="en-US" altLang="ko-KR" sz="850" dirty="0">
              <a:solidFill>
                <a:srgbClr val="3C4043"/>
              </a:solidFill>
              <a:latin typeface="페이퍼로지 4 Regular" pitchFamily="2" charset="-127"/>
              <a:ea typeface="페이퍼로지 4 Regular" pitchFamily="2" charset="-127"/>
              <a:cs typeface="Noto Sans KR Medium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ko-KR" alt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</a:rPr>
              <a:t>오늘 나의 상태 한 줄 입력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6310331" y="3279138"/>
            <a:ext cx="1411733" cy="147797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답변 완료 후 서로의 </a:t>
            </a:r>
            <a:r>
              <a:rPr lang="en-US" sz="8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답변</a:t>
            </a:r>
            <a:r>
              <a:rPr lang="en-US" sz="85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sz="85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공유</a:t>
            </a:r>
            <a:endParaRPr lang="en-US" sz="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6310331" y="3556109"/>
            <a:ext cx="2190759" cy="5715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5" name="Text 29"/>
          <p:cNvSpPr/>
          <p:nvPr/>
        </p:nvSpPr>
        <p:spPr>
          <a:xfrm>
            <a:off x="6234793" y="3613197"/>
            <a:ext cx="2341833" cy="310854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"오늘 하루 중 가장 행복했던 순간은 언제였나요?"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6310331" y="2636044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6310331" y="2933207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6310331" y="3279138"/>
            <a:ext cx="4464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236458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주요 서비스 시나리오 02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301631" y="1094780"/>
            <a:ext cx="2619384" cy="36701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1301631" y="1094780"/>
            <a:ext cx="2619384" cy="28575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6" name="Shape 3"/>
          <p:cNvSpPr/>
          <p:nvPr/>
        </p:nvSpPr>
        <p:spPr>
          <a:xfrm>
            <a:off x="1515943" y="951905"/>
            <a:ext cx="285750" cy="28575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4"/>
          <p:cNvSpPr/>
          <p:nvPr/>
        </p:nvSpPr>
        <p:spPr>
          <a:xfrm>
            <a:off x="1515946" y="95190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04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515943" y="4001951"/>
            <a:ext cx="2190759" cy="54861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4" name="Shape 10"/>
          <p:cNvSpPr/>
          <p:nvPr/>
        </p:nvSpPr>
        <p:spPr>
          <a:xfrm>
            <a:off x="1536416" y="4001951"/>
            <a:ext cx="28575" cy="548618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15" name="Text 11"/>
          <p:cNvSpPr/>
          <p:nvPr/>
        </p:nvSpPr>
        <p:spPr>
          <a:xfrm>
            <a:off x="669782" y="2378869"/>
            <a:ext cx="65" cy="907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500" dirty="0"/>
          </a:p>
        </p:txBody>
      </p:sp>
      <p:sp>
        <p:nvSpPr>
          <p:cNvPr id="19" name="Text 15"/>
          <p:cNvSpPr/>
          <p:nvPr/>
        </p:nvSpPr>
        <p:spPr>
          <a:xfrm>
            <a:off x="784082" y="4283404"/>
            <a:ext cx="909877" cy="13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099" y="1534120"/>
            <a:ext cx="357188" cy="2857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91347" y="2002911"/>
            <a:ext cx="219075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AI 정서 </a:t>
            </a:r>
            <a:r>
              <a:rPr lang="en-US" sz="1100" b="1" dirty="0" err="1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소통</a:t>
            </a: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 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1473213" y="2436019"/>
            <a:ext cx="2157129" cy="29674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AI가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ko-KR" alt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한 줄 일기를 보고 </a:t>
            </a:r>
            <a:r>
              <a:rPr lang="en-US" sz="80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감정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sz="80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분석해</a:t>
            </a:r>
            <a:endParaRPr lang="en-US" sz="800" dirty="0">
              <a:solidFill>
                <a:srgbClr val="3C4043"/>
              </a:solidFill>
              <a:latin typeface="페이퍼로지 4 Regular" pitchFamily="2" charset="-127"/>
              <a:ea typeface="페이퍼로지 4 Regular" pitchFamily="2" charset="-127"/>
              <a:cs typeface="Noto Sans KR Medium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ko-KR" alt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가족에게 팝업창을 띄워 위로와 응원의 메시지 독려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1475071" y="2457450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500" dirty="0">
                <a:solidFill>
                  <a:srgbClr val="F0A5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35" name="Text 30"/>
          <p:cNvSpPr/>
          <p:nvPr/>
        </p:nvSpPr>
        <p:spPr>
          <a:xfrm>
            <a:off x="3590878" y="4283404"/>
            <a:ext cx="884140" cy="13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4606309" y="1087636"/>
            <a:ext cx="2619384" cy="36701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2"/>
          <p:cNvSpPr/>
          <p:nvPr/>
        </p:nvSpPr>
        <p:spPr>
          <a:xfrm>
            <a:off x="4606309" y="1087636"/>
            <a:ext cx="2619384" cy="28575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8" name="Shape 33"/>
          <p:cNvSpPr/>
          <p:nvPr/>
        </p:nvSpPr>
        <p:spPr>
          <a:xfrm>
            <a:off x="4820621" y="944761"/>
            <a:ext cx="285750" cy="28575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4"/>
          <p:cNvSpPr/>
          <p:nvPr/>
        </p:nvSpPr>
        <p:spPr>
          <a:xfrm>
            <a:off x="4912606" y="1018386"/>
            <a:ext cx="115416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05</a:t>
            </a:r>
            <a:endParaRPr lang="en-US" sz="90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0621" y="1526977"/>
            <a:ext cx="285750" cy="28575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4820621" y="2002036"/>
            <a:ext cx="219075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추억 보관소 &amp; 타임캡슐</a:t>
            </a:r>
            <a:endParaRPr lang="en-US" sz="11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2" name="Text 36"/>
          <p:cNvSpPr/>
          <p:nvPr/>
        </p:nvSpPr>
        <p:spPr>
          <a:xfrm>
            <a:off x="4820621" y="2371725"/>
            <a:ext cx="1887824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나눈 대화와 기록을 카드 형태로 날짜별 저장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3" name="Text 37"/>
          <p:cNvSpPr/>
          <p:nvPr/>
        </p:nvSpPr>
        <p:spPr>
          <a:xfrm>
            <a:off x="4820621" y="2628900"/>
            <a:ext cx="1775614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미래의 가족에게 남기는 예약 메시지 작성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4" name="Text 38"/>
          <p:cNvSpPr/>
          <p:nvPr/>
        </p:nvSpPr>
        <p:spPr>
          <a:xfrm>
            <a:off x="4820621" y="2886075"/>
            <a:ext cx="1708288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설정 날짜에 알림 전송 및 타임캡슐 공개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5" name="Text 39"/>
          <p:cNvSpPr/>
          <p:nvPr/>
        </p:nvSpPr>
        <p:spPr>
          <a:xfrm>
            <a:off x="4820621" y="2371725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500" dirty="0">
                <a:solidFill>
                  <a:srgbClr val="F0A5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46" name="Text 40"/>
          <p:cNvSpPr/>
          <p:nvPr/>
        </p:nvSpPr>
        <p:spPr>
          <a:xfrm>
            <a:off x="4820621" y="2628900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500" dirty="0">
                <a:solidFill>
                  <a:srgbClr val="F0A5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47" name="Text 41"/>
          <p:cNvSpPr/>
          <p:nvPr/>
        </p:nvSpPr>
        <p:spPr>
          <a:xfrm>
            <a:off x="4820621" y="2886075"/>
            <a:ext cx="71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500" dirty="0">
                <a:solidFill>
                  <a:srgbClr val="F0A500"/>
                </a:solidFill>
                <a:latin typeface="Noto Sans KR Medium" pitchFamily="34" charset="0"/>
                <a:ea typeface="Noto Sans KR Medium" pitchFamily="34" charset="-122"/>
                <a:cs typeface="Noto Sans KR Medium" pitchFamily="34" charset="-120"/>
              </a:rPr>
              <a:t>■</a:t>
            </a:r>
            <a:endParaRPr lang="en-US" sz="500" dirty="0"/>
          </a:p>
        </p:txBody>
      </p:sp>
      <p:sp>
        <p:nvSpPr>
          <p:cNvPr id="48" name="Text 29">
            <a:extLst>
              <a:ext uri="{FF2B5EF4-FFF2-40B4-BE49-F238E27FC236}">
                <a16:creationId xmlns:a16="http://schemas.microsoft.com/office/drawing/2014/main" id="{8B3ADCB7-0A38-AAE5-FC26-7462B885513E}"/>
              </a:ext>
            </a:extLst>
          </p:cNvPr>
          <p:cNvSpPr/>
          <p:nvPr/>
        </p:nvSpPr>
        <p:spPr>
          <a:xfrm>
            <a:off x="2044590" y="4118587"/>
            <a:ext cx="1142942" cy="4258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en-US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"오늘 우리 딸이 </a:t>
            </a:r>
            <a:r>
              <a:rPr lang="en-US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보낸</a:t>
            </a:r>
            <a:r>
              <a:rPr lang="en-US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무거웠던</a:t>
            </a:r>
            <a:endParaRPr lang="en-US" sz="750" i="1" dirty="0">
              <a:solidFill>
                <a:srgbClr val="555555"/>
              </a:solidFill>
              <a:latin typeface="페이퍼로지 4 Regular" pitchFamily="2" charset="-127"/>
              <a:ea typeface="페이퍼로지 4 Regular" pitchFamily="2" charset="-127"/>
              <a:cs typeface="Noto Sans KR Medium" pitchFamily="34" charset="-120"/>
            </a:endParaRPr>
          </a:p>
          <a:p>
            <a:pPr algn="ctr">
              <a:lnSpc>
                <a:spcPct val="128000"/>
              </a:lnSpc>
            </a:pPr>
            <a:r>
              <a:rPr lang="en-US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하루의</a:t>
            </a:r>
            <a:r>
              <a:rPr lang="en-US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이야기</a:t>
            </a:r>
            <a:r>
              <a:rPr lang="en-US" altLang="ko-KR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를</a:t>
            </a:r>
            <a:r>
              <a:rPr lang="en-US" altLang="ko-KR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</a:t>
            </a:r>
            <a:r>
              <a:rPr lang="en-US" altLang="ko-KR" sz="750" i="1" dirty="0" err="1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들어봐요</a:t>
            </a:r>
            <a:r>
              <a:rPr lang="en-US" altLang="ko-KR" sz="750" i="1" dirty="0">
                <a:solidFill>
                  <a:srgbClr val="555555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."</a:t>
            </a:r>
            <a:endParaRPr lang="en-US" altLang="ko-KR" sz="75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0" indent="0" algn="l">
              <a:lnSpc>
                <a:spcPct val="128000"/>
              </a:lnSpc>
              <a:buNone/>
            </a:pP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236458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주요 서비스 시나리오 03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25152" y="973336"/>
            <a:ext cx="2619384" cy="4027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39465" y="830461"/>
            <a:ext cx="342900" cy="3429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6" name="Text 3"/>
          <p:cNvSpPr/>
          <p:nvPr/>
        </p:nvSpPr>
        <p:spPr>
          <a:xfrm>
            <a:off x="645192" y="924967"/>
            <a:ext cx="13144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06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65" y="1412677"/>
            <a:ext cx="250031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9465" y="1916311"/>
            <a:ext cx="219075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스마트 일정 공유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539465" y="2307431"/>
            <a:ext cx="1753172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 공동 및 개인 일정 등록 및 통합 관리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39465" y="2593181"/>
            <a:ext cx="1528752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기념일 및 주요 일정 알림 기능 제공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39465" y="2878931"/>
            <a:ext cx="1932709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날짜별 상세 일정 확인 및 가족 간 실시간 공유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39465" y="4336256"/>
            <a:ext cx="2190759" cy="37861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9"/>
          <p:cNvSpPr/>
          <p:nvPr/>
        </p:nvSpPr>
        <p:spPr>
          <a:xfrm>
            <a:off x="539465" y="4336256"/>
            <a:ext cx="28575" cy="378619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14" name="Text 10"/>
          <p:cNvSpPr/>
          <p:nvPr/>
        </p:nvSpPr>
        <p:spPr>
          <a:xfrm>
            <a:off x="539465" y="4336256"/>
            <a:ext cx="2190759" cy="39818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C7290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"5월 1일 — 부모님 결혼기념일"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211942" y="951905"/>
            <a:ext cx="2619384" cy="4027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539465" y="2307431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539465" y="2593181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39465" y="2878931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3426254" y="809030"/>
            <a:ext cx="342900" cy="3429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0" name="Text 16"/>
          <p:cNvSpPr/>
          <p:nvPr/>
        </p:nvSpPr>
        <p:spPr>
          <a:xfrm>
            <a:off x="3531981" y="903536"/>
            <a:ext cx="13144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07</a:t>
            </a:r>
            <a:endParaRPr lang="en-US" sz="10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6254" y="1391245"/>
            <a:ext cx="357187" cy="2857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26254" y="1894880"/>
            <a:ext cx="219075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정원 성장(게임)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3426254" y="2286000"/>
            <a:ext cx="2190759" cy="139141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소통 활동 참여도에 따른 경험치 및 성장 시스템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3426254" y="2576943"/>
            <a:ext cx="1910267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 구성원별 캐릭터(나무, 꽃, 동물 등) 배정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3426254" y="2862693"/>
            <a:ext cx="1887824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레벨업에 따른 꾸미기 요소 및 상호작용 해금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3426254" y="4314825"/>
            <a:ext cx="2190759" cy="37861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Shape 22"/>
          <p:cNvSpPr/>
          <p:nvPr/>
        </p:nvSpPr>
        <p:spPr>
          <a:xfrm>
            <a:off x="3426254" y="4314825"/>
            <a:ext cx="28575" cy="378619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28" name="Text 23"/>
          <p:cNvSpPr/>
          <p:nvPr/>
        </p:nvSpPr>
        <p:spPr>
          <a:xfrm>
            <a:off x="3426254" y="4314825"/>
            <a:ext cx="2190759" cy="398186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C7290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아빠(나무), 엄마(꽃), 자녀(강아지/고양이)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133804" y="951905"/>
            <a:ext cx="2619385" cy="40272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5"/>
          <p:cNvSpPr/>
          <p:nvPr/>
        </p:nvSpPr>
        <p:spPr>
          <a:xfrm>
            <a:off x="3426254" y="2286000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3426254" y="2570016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3420002" y="2878931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6348116" y="809030"/>
            <a:ext cx="342900" cy="34290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34" name="Text 29"/>
          <p:cNvSpPr/>
          <p:nvPr/>
        </p:nvSpPr>
        <p:spPr>
          <a:xfrm>
            <a:off x="6453843" y="903536"/>
            <a:ext cx="13144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08</a:t>
            </a:r>
            <a:endParaRPr lang="en-US" sz="10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116" y="1391245"/>
            <a:ext cx="285750" cy="28575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348116" y="1894880"/>
            <a:ext cx="219076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마이페이지 &amp; 설정</a:t>
            </a:r>
            <a:endParaRPr 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6348116" y="2286000"/>
            <a:ext cx="608628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 err="1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프로필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설</a:t>
            </a:r>
            <a:r>
              <a:rPr lang="ko-KR" alt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정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6348116" y="2571750"/>
            <a:ext cx="1975990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데일리 질문 수신 시간 및 알림 ON/OFF 설정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6348116" y="2857500"/>
            <a:ext cx="1730730" cy="13914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개인 활동 통계 및 감정 분석 리포트 확인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6348116" y="2286000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6348116" y="2571750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6348116" y="2857500"/>
            <a:ext cx="410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•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15877" y="1428750"/>
            <a:ext cx="712246" cy="6386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kern="0" spc="2" dirty="0">
                <a:solidFill>
                  <a:schemeClr val="bg2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03</a:t>
            </a:r>
            <a:endParaRPr lang="en-US" sz="4150" dirty="0">
              <a:solidFill>
                <a:schemeClr val="bg2">
                  <a:lumMod val="50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3595985" y="2311058"/>
            <a:ext cx="1952030" cy="438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시스템 설계</a:t>
            </a:r>
            <a:endParaRPr lang="en-US" sz="28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2224385" y="2801000"/>
            <a:ext cx="4695230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페이퍼로지 4 Regular" pitchFamily="2" charset="-127"/>
                <a:ea typeface="페이퍼로지 4 Regular" pitchFamily="2" charset="-127"/>
                <a:cs typeface="Noto Sans KR" pitchFamily="34" charset="-120"/>
              </a:rPr>
              <a:t>시스템 아키텍처, 기능 구조, 데이터베이스, API 연동 및 기술 스택을 정의합니다</a:t>
            </a:r>
            <a:endParaRPr lang="en-US" sz="10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5072" y="243112"/>
            <a:ext cx="1496616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시스템 전체 구조</a:t>
            </a:r>
            <a:endParaRPr lang="en-US" sz="15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632222"/>
            <a:ext cx="8572500" cy="4000500"/>
          </a:xfrm>
          <a:prstGeom prst="rect">
            <a:avLst/>
          </a:prstGeom>
          <a:solidFill>
            <a:srgbClr val="FFFFFF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85750" y="4739878"/>
            <a:ext cx="8572500" cy="326827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3" y="4853285"/>
            <a:ext cx="75009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6509" y="4843891"/>
            <a:ext cx="1655564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Frontend: Flutter (iOS/Android)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1940" y="4853285"/>
            <a:ext cx="100013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833390" y="4843891"/>
            <a:ext cx="2573536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Backend: Node.js, Firebase (Firestore/Functions)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6792" y="4853285"/>
            <a:ext cx="100013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938242" y="4843891"/>
            <a:ext cx="2705695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AI System: KoBERT (Emotion), Claude (Generation)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E419634-A211-5300-CAF3-A5B6822769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432" y="700905"/>
            <a:ext cx="6803136" cy="39621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250031"/>
            <a:ext cx="1300163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기능 구조 설계</a:t>
            </a:r>
            <a:endParaRPr lang="en-US" sz="15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Shape 2"/>
          <p:cNvSpPr/>
          <p:nvPr/>
        </p:nvSpPr>
        <p:spPr>
          <a:xfrm>
            <a:off x="285750" y="4662637"/>
            <a:ext cx="8572500" cy="380850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3" y="4752380"/>
            <a:ext cx="112514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4014" y="4738449"/>
            <a:ext cx="2239231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핵심 기능: 감정 분석, 정원 성장, 일정 공유, 타임캡슐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0082" y="4752380"/>
            <a:ext cx="112514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114033" y="4738449"/>
            <a:ext cx="2708849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데이터 흐름: 사용자 입력 → AI 분석 → DB 저장 → 피드백 반영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719" y="4752380"/>
            <a:ext cx="125016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026172" y="4738449"/>
            <a:ext cx="2617794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서비스 구조: Firebase Auth, API 서버, KoBERT/Claude 연동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5E847383-6EC4-D7F9-7DE2-BFC49BC3FF3A}"/>
              </a:ext>
            </a:extLst>
          </p:cNvPr>
          <p:cNvSpPr/>
          <p:nvPr/>
        </p:nvSpPr>
        <p:spPr>
          <a:xfrm>
            <a:off x="285750" y="632222"/>
            <a:ext cx="8572500" cy="4000500"/>
          </a:xfrm>
          <a:prstGeom prst="rect">
            <a:avLst/>
          </a:prstGeom>
          <a:solidFill>
            <a:srgbClr val="FFFFFF"/>
          </a:solidFill>
          <a:ln w="9144">
            <a:solidFill>
              <a:srgbClr val="EAEAEA"/>
            </a:solidFill>
            <a:prstDash val="solid"/>
          </a:ln>
        </p:spPr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6971824-5225-598F-BED8-1DFD871769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483" y="644814"/>
            <a:ext cx="7443218" cy="3963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3818" y="261863"/>
            <a:ext cx="3091458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데이터베이스 설계: ER 다이어그램</a:t>
            </a:r>
            <a:endParaRPr lang="en-US" sz="15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632222"/>
            <a:ext cx="8572500" cy="3857625"/>
          </a:xfrm>
          <a:prstGeom prst="rect">
            <a:avLst/>
          </a:prstGeom>
          <a:solidFill>
            <a:srgbClr val="FFFFFF"/>
          </a:solidFill>
          <a:ln w="9144">
            <a:solidFill>
              <a:srgbClr val="EAEAEA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703659"/>
            <a:ext cx="8429625" cy="3714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4561284"/>
            <a:ext cx="8572500" cy="482203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3" y="4752380"/>
            <a:ext cx="87511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6329" y="4744657"/>
            <a:ext cx="2384198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데이터 모델링: 가족(Families) 중심의 1:N 유기적 관계 설계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0177" y="4752380"/>
            <a:ext cx="100013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918245" y="4744671"/>
            <a:ext cx="3318617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주요 엔티티: Users, Emotions, Questions, Calendar, Garden, Timecapsule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4917" y="4752380"/>
            <a:ext cx="125016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192061" y="4748267"/>
            <a:ext cx="2445610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무결성: PK/FK 관계를 통한 데이터 일관성 및 참조 무결성 확보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0069" y="256534"/>
            <a:ext cx="3620095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데이터베이스 설계: 주요 테이블 명세 (1)</a:t>
            </a:r>
            <a:endParaRPr lang="en-US" sz="15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632222"/>
            <a:ext cx="8572500" cy="3857625"/>
          </a:xfrm>
          <a:prstGeom prst="rect">
            <a:avLst/>
          </a:prstGeom>
          <a:solidFill>
            <a:srgbClr val="FFFFFF"/>
          </a:solidFill>
          <a:ln w="9144">
            <a:solidFill>
              <a:srgbClr val="EAEAEA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703659"/>
            <a:ext cx="8429625" cy="3714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4561284"/>
            <a:ext cx="8572500" cy="482203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3" y="4752380"/>
            <a:ext cx="100013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1513" y="4738449"/>
            <a:ext cx="2665707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데이터 정규화: 효율적인 저장 및 중복 최소화를 위한 구조 설계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4112" y="4752380"/>
            <a:ext cx="75009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490559" y="4738449"/>
            <a:ext cx="2352470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스키마 정의: 각 도메인별 최적화된 자료형 및 명칭 할당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9922" y="4752380"/>
            <a:ext cx="100013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021372" y="4738449"/>
            <a:ext cx="2622566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제약 조건: PK, FK, UQ를 통한 데이터 무결성 및 신뢰성 확보</a:t>
            </a:r>
            <a:endParaRPr lang="en-US" sz="7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0069" y="261863"/>
            <a:ext cx="3620095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데이터베이스 설계: 주요 테이블 명세 (2)</a:t>
            </a:r>
            <a:endParaRPr lang="en-US" sz="15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632222"/>
            <a:ext cx="8572500" cy="3857625"/>
          </a:xfrm>
          <a:prstGeom prst="rect">
            <a:avLst/>
          </a:prstGeom>
          <a:solidFill>
            <a:srgbClr val="FFFFFF"/>
          </a:solidFill>
          <a:ln w="9144">
            <a:solidFill>
              <a:srgbClr val="EAEAEA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703659"/>
            <a:ext cx="8429625" cy="3714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4561284"/>
            <a:ext cx="8572500" cy="482203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3" y="4752380"/>
            <a:ext cx="100013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8841" y="4744545"/>
            <a:ext cx="2464622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관계 표기법: PK(기본키), FK(외래키), UQ(유니크) 및 1:N 관계 명시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1911" y="4752380"/>
            <a:ext cx="100013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270689" y="4744545"/>
            <a:ext cx="2619328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시간 데이터: 모든 시간 데이터는 KST(한국 표준시) 기준으로 저장 및 관리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8465" y="4752380"/>
            <a:ext cx="112514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079745" y="4744545"/>
            <a:ext cx="2521521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설계 최적화: 시스템 아키텍처의 데이터 흐름에 기반한 효율적 구조 설계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319658"/>
            <a:ext cx="356115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데이터베이스 설계: 핵심 요약 및 특징</a:t>
            </a:r>
            <a:endParaRPr lang="en-US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5" y="901229"/>
            <a:ext cx="4057650" cy="1314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901229"/>
            <a:ext cx="4057650" cy="28575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1104826"/>
            <a:ext cx="17859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394" y="1072679"/>
            <a:ext cx="98424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사용자 및 가족 관리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600075" y="1394147"/>
            <a:ext cx="1704056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USERS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계정 정보 및 로그인 이메일 관리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600075" y="1601316"/>
            <a:ext cx="2074350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FAMILIES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가족 그룹 생성 및 초대 코드(UQ) 관리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00075" y="1808485"/>
            <a:ext cx="2465483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FAMILY_MEMBERS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사용자와 가족 그룹 간 N:M 관계 매핑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657725" y="901229"/>
            <a:ext cx="4057650" cy="1314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657725" y="901229"/>
            <a:ext cx="4057650" cy="28575"/>
          </a:xfrm>
          <a:prstGeom prst="rect">
            <a:avLst/>
          </a:prstGeom>
          <a:solidFill>
            <a:srgbClr val="3DBE8A"/>
          </a:solidFill>
          <a:ln/>
        </p:spPr>
      </p:sp>
      <p:sp>
        <p:nvSpPr>
          <p:cNvPr id="13" name="Text 9"/>
          <p:cNvSpPr/>
          <p:nvPr/>
        </p:nvSpPr>
        <p:spPr>
          <a:xfrm>
            <a:off x="600075" y="1394147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600075" y="1601316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600075" y="1808485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1104826"/>
            <a:ext cx="142875" cy="1428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57775" y="1072679"/>
            <a:ext cx="103073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감정 기록 및 AI 분석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829175" y="1394147"/>
            <a:ext cx="2132059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EMOTION_RECORDS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일기 내용 및 감정 라벨 저장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829175" y="1601316"/>
            <a:ext cx="2388539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AI_ANALYSIS_RESULTS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KoBERT/GPT 분석 결과 저장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829175" y="1808485"/>
            <a:ext cx="2462277" cy="124329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감정 분석 신뢰도(Confidence) 및 공감 메시지 통합 관리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28625" y="2434233"/>
            <a:ext cx="4057650" cy="1314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428625" y="2434233"/>
            <a:ext cx="4057650" cy="28575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3" name="Text 18"/>
          <p:cNvSpPr/>
          <p:nvPr/>
        </p:nvSpPr>
        <p:spPr>
          <a:xfrm>
            <a:off x="4829175" y="1394147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4829175" y="1601316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4829175" y="1808485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2637830"/>
            <a:ext cx="178594" cy="14287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4394" y="2605683"/>
            <a:ext cx="73096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가족 소통 기능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600075" y="2927152"/>
            <a:ext cx="2242665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DAILY_QUESTIONS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AI가 생성한 가족 대화 질문 관리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00075" y="3134320"/>
            <a:ext cx="2420599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QUESTION_RESPONSES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질문에 대한 구성원 답변 데이터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600075" y="3341489"/>
            <a:ext cx="2199385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CALENDAR_EVENTS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가족 공동 일정 및 이벤트 공유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4657725" y="2434233"/>
            <a:ext cx="4057650" cy="1314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6"/>
          <p:cNvSpPr/>
          <p:nvPr/>
        </p:nvSpPr>
        <p:spPr>
          <a:xfrm>
            <a:off x="4657725" y="2434233"/>
            <a:ext cx="4057650" cy="28575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3" name="Text 27"/>
          <p:cNvSpPr/>
          <p:nvPr/>
        </p:nvSpPr>
        <p:spPr>
          <a:xfrm>
            <a:off x="600075" y="2927152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600075" y="3134320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600075" y="3341489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2637830"/>
            <a:ext cx="142875" cy="14287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057775" y="2605683"/>
            <a:ext cx="95539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게임화 및 아카이브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4829175" y="2927152"/>
            <a:ext cx="2284343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GARDEN_STATUS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가족 정원 및 캐릭터 성장 레벨 관리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4829175" y="3134320"/>
            <a:ext cx="2249077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GROWTH_LOGS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활동 기반 경험치(Point) 획득 로그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4829175" y="3341489"/>
            <a:ext cx="2375715" cy="140038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marL="0" indent="0" algn="l">
              <a:lnSpc>
                <a:spcPct val="129231"/>
              </a:lnSpc>
              <a:buNone/>
            </a:pPr>
            <a:r>
              <a:rPr lang="en-US" sz="65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TIMECAPSULES</a:t>
            </a: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 감정 기록 기반 정기적 회고 데이터 저장</a:t>
            </a:r>
            <a:endParaRPr lang="en-US" sz="65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1" name="Shape 34"/>
          <p:cNvSpPr/>
          <p:nvPr/>
        </p:nvSpPr>
        <p:spPr>
          <a:xfrm>
            <a:off x="0" y="4471988"/>
            <a:ext cx="9144000" cy="671513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2" name="Text 35"/>
          <p:cNvSpPr/>
          <p:nvPr/>
        </p:nvSpPr>
        <p:spPr>
          <a:xfrm>
            <a:off x="4829175" y="2927152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43" name="Text 36"/>
          <p:cNvSpPr/>
          <p:nvPr/>
        </p:nvSpPr>
        <p:spPr>
          <a:xfrm>
            <a:off x="4829175" y="3134320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44" name="Text 37"/>
          <p:cNvSpPr/>
          <p:nvPr/>
        </p:nvSpPr>
        <p:spPr>
          <a:xfrm>
            <a:off x="4829175" y="3341489"/>
            <a:ext cx="410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F0A500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•</a:t>
            </a:r>
            <a:endParaRPr lang="en-US" sz="750" dirty="0"/>
          </a:p>
        </p:txBody>
      </p:sp>
      <p:sp>
        <p:nvSpPr>
          <p:cNvPr id="45" name="Text 38"/>
          <p:cNvSpPr/>
          <p:nvPr/>
        </p:nvSpPr>
        <p:spPr>
          <a:xfrm>
            <a:off x="214313" y="4614863"/>
            <a:ext cx="8715375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3DBE8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CORE DATA FLOW</a:t>
            </a:r>
            <a:endParaRPr lang="en-US" sz="700" dirty="0"/>
          </a:p>
        </p:txBody>
      </p:sp>
      <p:sp>
        <p:nvSpPr>
          <p:cNvPr id="46" name="Text 39"/>
          <p:cNvSpPr/>
          <p:nvPr/>
        </p:nvSpPr>
        <p:spPr>
          <a:xfrm>
            <a:off x="214313" y="4845248"/>
            <a:ext cx="5214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사용자 입력</a:t>
            </a:r>
            <a:endParaRPr lang="en-US" sz="75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599" y="4880074"/>
            <a:ext cx="53578" cy="85725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476970" y="4845248"/>
            <a:ext cx="6500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감정 기록 저장</a:t>
            </a:r>
            <a:endParaRPr lang="en-US" sz="75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0845" y="4880074"/>
            <a:ext cx="53578" cy="85725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2868216" y="4845248"/>
            <a:ext cx="5572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AI 감정 분석</a:t>
            </a:r>
            <a:endParaRPr lang="en-US" sz="750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9221" y="4880074"/>
            <a:ext cx="53578" cy="85725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4166592" y="4845248"/>
            <a:ext cx="7483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공감 메시지 생성</a:t>
            </a:r>
            <a:endParaRPr lang="en-US" sz="750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8693" y="4880074"/>
            <a:ext cx="53578" cy="85725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5656064" y="4845248"/>
            <a:ext cx="4232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가족 공유</a:t>
            </a:r>
            <a:endParaRPr lang="en-US" sz="750" dirty="0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124" y="4880074"/>
            <a:ext cx="53578" cy="85725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6820495" y="4845248"/>
            <a:ext cx="7483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성장 포인트 반영</a:t>
            </a:r>
            <a:endParaRPr lang="en-US" sz="750" dirty="0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2596" y="4880074"/>
            <a:ext cx="53578" cy="85725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8309967" y="4845248"/>
            <a:ext cx="6197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타임캡슐 저장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41590"/>
            <a:ext cx="1975247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API 및 외부 연동 구조</a:t>
            </a:r>
            <a:endParaRPr lang="en-US" sz="15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85750" y="807244"/>
            <a:ext cx="4200525" cy="1785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807244"/>
            <a:ext cx="4200525" cy="28575"/>
          </a:xfrm>
          <a:prstGeom prst="rect">
            <a:avLst/>
          </a:prstGeom>
          <a:solidFill>
            <a:srgbClr val="10A37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6553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375" y="1019312"/>
            <a:ext cx="156269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Claude API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Text 4"/>
          <p:cNvSpPr/>
          <p:nvPr/>
        </p:nvSpPr>
        <p:spPr>
          <a:xfrm>
            <a:off x="457200" y="1300163"/>
            <a:ext cx="3857625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C7290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NATURAL LANGUAGE GENERATION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Text 5"/>
          <p:cNvSpPr/>
          <p:nvPr/>
        </p:nvSpPr>
        <p:spPr>
          <a:xfrm>
            <a:off x="457200" y="1501973"/>
            <a:ext cx="3976255" cy="131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사용자 감정 분석 결과 기반 맞춤형 공감 메시지 생성 및 가족 소통 유도를 위한 데일리 질문 자동 생성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57200" y="2021681"/>
            <a:ext cx="3857625" cy="396478"/>
          </a:xfrm>
          <a:prstGeom prst="rect">
            <a:avLst/>
          </a:prstGeom>
          <a:solidFill>
            <a:srgbClr val="F8F9F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71500" y="2121694"/>
            <a:ext cx="392906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8"/>
          <p:cNvSpPr/>
          <p:nvPr/>
        </p:nvSpPr>
        <p:spPr>
          <a:xfrm>
            <a:off x="571500" y="2121694"/>
            <a:ext cx="392906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Client</a:t>
            </a:r>
            <a:endParaRPr lang="en-US" sz="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556" y="2184202"/>
            <a:ext cx="85725" cy="8572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64431" y="2121694"/>
            <a:ext cx="501848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5" name="Text 10"/>
          <p:cNvSpPr/>
          <p:nvPr/>
        </p:nvSpPr>
        <p:spPr>
          <a:xfrm>
            <a:off x="1164431" y="2121694"/>
            <a:ext cx="501848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Firebase</a:t>
            </a:r>
            <a:endParaRPr lang="en-US" sz="6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3430" y="2184202"/>
            <a:ext cx="85725" cy="8572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866305" y="2121694"/>
            <a:ext cx="448270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8" name="Text 12"/>
          <p:cNvSpPr/>
          <p:nvPr/>
        </p:nvSpPr>
        <p:spPr>
          <a:xfrm>
            <a:off x="1842616" y="2121694"/>
            <a:ext cx="495649" cy="210827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altLang="ko-KR" sz="700" b="1" dirty="0">
                <a:solidFill>
                  <a:schemeClr val="bg1"/>
                </a:solidFill>
                <a:latin typeface="Noto Sans KR Bold" panose="020B0200000000000000" pitchFamily="50" charset="-127"/>
                <a:ea typeface="Noto Sans KR Bold" panose="020B0200000000000000" pitchFamily="50" charset="-127"/>
                <a:cs typeface="Noto Sans KR ExtraBold" pitchFamily="34" charset="-120"/>
              </a:rPr>
              <a:t>Claude</a:t>
            </a:r>
            <a:endParaRPr lang="en-US" sz="600" dirty="0">
              <a:solidFill>
                <a:schemeClr val="bg1"/>
              </a:solidFill>
              <a:latin typeface="Noto Sans KR Bold" panose="020B0200000000000000" pitchFamily="50" charset="-127"/>
              <a:ea typeface="Noto Sans KR Bold" panose="020B0200000000000000" pitchFamily="50" charset="-127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657725" y="817959"/>
            <a:ext cx="4200525" cy="1785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4657725" y="817959"/>
            <a:ext cx="4200525" cy="28575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1007269"/>
            <a:ext cx="171450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86350" y="989409"/>
            <a:ext cx="145375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이미지 API (DALL-E 3)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4829175" y="1310878"/>
            <a:ext cx="3857625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C7290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VISUAL ASSET GENERATION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829175" y="1512689"/>
            <a:ext cx="3857625" cy="27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가족 정원의 성장 단계별 캐릭터 변화 및 보상 아이템 이미지를 동적으로 생성하여 게이미피케이션 요소 강화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4829175" y="2035969"/>
            <a:ext cx="3857625" cy="396478"/>
          </a:xfrm>
          <a:prstGeom prst="rect">
            <a:avLst/>
          </a:prstGeom>
          <a:solidFill>
            <a:srgbClr val="F8F9F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943475" y="2135981"/>
            <a:ext cx="419695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7" name="Text 20"/>
          <p:cNvSpPr/>
          <p:nvPr/>
        </p:nvSpPr>
        <p:spPr>
          <a:xfrm>
            <a:off x="4943475" y="2135981"/>
            <a:ext cx="419695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Server</a:t>
            </a:r>
            <a:endParaRPr lang="en-US" sz="6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0320" y="2198489"/>
            <a:ext cx="85725" cy="85725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563195" y="2135981"/>
            <a:ext cx="617934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0" name="Text 22"/>
          <p:cNvSpPr/>
          <p:nvPr/>
        </p:nvSpPr>
        <p:spPr>
          <a:xfrm>
            <a:off x="5563195" y="2135981"/>
            <a:ext cx="617934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OpenAI API</a:t>
            </a:r>
            <a:endParaRPr lang="en-US" sz="6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280" y="2198489"/>
            <a:ext cx="85725" cy="8572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381155" y="2135981"/>
            <a:ext cx="591145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3" name="Text 24"/>
          <p:cNvSpPr/>
          <p:nvPr/>
        </p:nvSpPr>
        <p:spPr>
          <a:xfrm>
            <a:off x="6381155" y="2135981"/>
            <a:ext cx="591145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S3 Storage</a:t>
            </a:r>
            <a:endParaRPr lang="en-US" sz="600" dirty="0"/>
          </a:p>
        </p:txBody>
      </p:sp>
      <p:sp>
        <p:nvSpPr>
          <p:cNvPr id="34" name="Shape 25"/>
          <p:cNvSpPr/>
          <p:nvPr/>
        </p:nvSpPr>
        <p:spPr>
          <a:xfrm>
            <a:off x="2471738" y="2825353"/>
            <a:ext cx="4200525" cy="1785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6"/>
          <p:cNvSpPr/>
          <p:nvPr/>
        </p:nvSpPr>
        <p:spPr>
          <a:xfrm>
            <a:off x="2471738" y="2825353"/>
            <a:ext cx="4200525" cy="28575"/>
          </a:xfrm>
          <a:prstGeom prst="rect">
            <a:avLst/>
          </a:prstGeom>
          <a:solidFill>
            <a:srgbClr val="FFCA28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3188" y="3014663"/>
            <a:ext cx="171450" cy="17145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900363" y="2996803"/>
            <a:ext cx="147339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Firebase Auth &amp; FCM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2643188" y="3318272"/>
            <a:ext cx="3857625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C7290"/>
                </a:solidFill>
                <a:latin typeface="페이퍼로지 4 Regular" pitchFamily="2" charset="-127"/>
                <a:ea typeface="페이퍼로지 4 Regular" pitchFamily="2" charset="-127"/>
                <a:cs typeface="Noto Sans KR Bold" pitchFamily="34" charset="-120"/>
              </a:rPr>
              <a:t>AUTH &amp; PUSH NOTIFICATION</a:t>
            </a:r>
            <a:endParaRPr lang="en-US" sz="7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2643188" y="3520083"/>
            <a:ext cx="3857625" cy="131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소셜 로그인(Kakao, Google) 연동 및 가족 활동 실시간 푸시 알림 전송을 통한 앱 리텐션 확보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0" name="Shape 30"/>
          <p:cNvSpPr/>
          <p:nvPr/>
        </p:nvSpPr>
        <p:spPr>
          <a:xfrm>
            <a:off x="2643188" y="4043363"/>
            <a:ext cx="3857625" cy="396478"/>
          </a:xfrm>
          <a:prstGeom prst="rect">
            <a:avLst/>
          </a:prstGeom>
          <a:solidFill>
            <a:srgbClr val="F8F9FA"/>
          </a:solidFill>
          <a:ln w="9144">
            <a:solidFill>
              <a:srgbClr val="EAEAEA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2757488" y="4143375"/>
            <a:ext cx="444698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2" name="Text 32"/>
          <p:cNvSpPr/>
          <p:nvPr/>
        </p:nvSpPr>
        <p:spPr>
          <a:xfrm>
            <a:off x="2757488" y="4143375"/>
            <a:ext cx="444698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Trigger</a:t>
            </a:r>
            <a:endParaRPr lang="en-US" sz="6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9336" y="4205883"/>
            <a:ext cx="85725" cy="85725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3402211" y="4143375"/>
            <a:ext cx="619720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5" name="Text 34"/>
          <p:cNvSpPr/>
          <p:nvPr/>
        </p:nvSpPr>
        <p:spPr>
          <a:xfrm>
            <a:off x="3402211" y="4143375"/>
            <a:ext cx="619720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FCM Server</a:t>
            </a:r>
            <a:endParaRPr lang="en-US" sz="60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081" y="4205883"/>
            <a:ext cx="85725" cy="85725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4221956" y="4143375"/>
            <a:ext cx="628650" cy="210741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8" name="Text 36"/>
          <p:cNvSpPr/>
          <p:nvPr/>
        </p:nvSpPr>
        <p:spPr>
          <a:xfrm>
            <a:off x="4221956" y="4143375"/>
            <a:ext cx="628650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Noto Sans KR Bold" pitchFamily="34" charset="0"/>
                <a:ea typeface="Noto Sans KR Bold" pitchFamily="34" charset="-122"/>
                <a:cs typeface="Noto Sans KR Bold" pitchFamily="34" charset="-120"/>
              </a:rPr>
              <a:t>Push Alarm</a:t>
            </a:r>
            <a:endParaRPr lang="en-US" sz="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242021"/>
            <a:ext cx="2010966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기술 스택 및 개발 환경</a:t>
            </a:r>
            <a:endParaRPr lang="en-US" sz="15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70123" y="1225153"/>
            <a:ext cx="4200525" cy="1444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270123" y="1225153"/>
            <a:ext cx="4200525" cy="28575"/>
          </a:xfrm>
          <a:prstGeom prst="rect">
            <a:avLst/>
          </a:prstGeom>
          <a:solidFill>
            <a:srgbClr val="4A90E2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73" y="1414463"/>
            <a:ext cx="128588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5886" y="1396603"/>
            <a:ext cx="607539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Frontend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41573" y="1746647"/>
            <a:ext cx="723305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Text 5"/>
          <p:cNvSpPr/>
          <p:nvPr/>
        </p:nvSpPr>
        <p:spPr>
          <a:xfrm>
            <a:off x="441573" y="1746647"/>
            <a:ext cx="723305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Framework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250603" y="1746647"/>
            <a:ext cx="1215076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Flutter (Cross-platform)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41573" y="2016323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Text 8"/>
          <p:cNvSpPr/>
          <p:nvPr/>
        </p:nvSpPr>
        <p:spPr>
          <a:xfrm>
            <a:off x="441573" y="2016323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Language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70236" y="2016323"/>
            <a:ext cx="227626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Dart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41573" y="2286000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Text 11"/>
          <p:cNvSpPr/>
          <p:nvPr/>
        </p:nvSpPr>
        <p:spPr>
          <a:xfrm>
            <a:off x="441573" y="2286000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State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170236" y="2286000"/>
            <a:ext cx="950581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Provider, Riverpod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657725" y="1210866"/>
            <a:ext cx="4200525" cy="1444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4657725" y="1210866"/>
            <a:ext cx="4200525" cy="28575"/>
          </a:xfrm>
          <a:prstGeom prst="rect">
            <a:avLst/>
          </a:prstGeom>
          <a:solidFill>
            <a:srgbClr val="3DBE8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1400175"/>
            <a:ext cx="171450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86350" y="1382316"/>
            <a:ext cx="114294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Backend &amp; Server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829175" y="1732359"/>
            <a:ext cx="812602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Text 17"/>
          <p:cNvSpPr/>
          <p:nvPr/>
        </p:nvSpPr>
        <p:spPr>
          <a:xfrm>
            <a:off x="4829175" y="1732359"/>
            <a:ext cx="812602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Environment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5727502" y="1732359"/>
            <a:ext cx="1287212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Node.js, Python (FastAPI)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4829175" y="2002036"/>
            <a:ext cx="667941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Text 20"/>
          <p:cNvSpPr/>
          <p:nvPr/>
        </p:nvSpPr>
        <p:spPr>
          <a:xfrm>
            <a:off x="4829175" y="2002036"/>
            <a:ext cx="667941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Serverless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5582841" y="2002036"/>
            <a:ext cx="1308050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Firebase Cloud Functions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4829175" y="2271713"/>
            <a:ext cx="751880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8" name="Text 23"/>
          <p:cNvSpPr/>
          <p:nvPr/>
        </p:nvSpPr>
        <p:spPr>
          <a:xfrm>
            <a:off x="4829175" y="2271713"/>
            <a:ext cx="751880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AI Inference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5666780" y="2271713"/>
            <a:ext cx="1317668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Docker based GPU Server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285750" y="3005733"/>
            <a:ext cx="4200525" cy="1444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6"/>
          <p:cNvSpPr/>
          <p:nvPr/>
        </p:nvSpPr>
        <p:spPr>
          <a:xfrm>
            <a:off x="285750" y="3005733"/>
            <a:ext cx="4200525" cy="28575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95042"/>
            <a:ext cx="150019" cy="17145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2944" y="3177183"/>
            <a:ext cx="1393031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DB &amp; Infrastructure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457200" y="3527227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5" name="Text 29"/>
          <p:cNvSpPr/>
          <p:nvPr/>
        </p:nvSpPr>
        <p:spPr>
          <a:xfrm>
            <a:off x="457200" y="3527227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Database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1185863" y="3527227"/>
            <a:ext cx="1235916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Cloud Firestore (NoSQL)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457200" y="3796903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8" name="Text 32"/>
          <p:cNvSpPr/>
          <p:nvPr/>
        </p:nvSpPr>
        <p:spPr>
          <a:xfrm>
            <a:off x="457200" y="3796903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Realtime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1185863" y="3796903"/>
            <a:ext cx="1110882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Firebase Realtime DB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0" name="Shape 34"/>
          <p:cNvSpPr/>
          <p:nvPr/>
        </p:nvSpPr>
        <p:spPr>
          <a:xfrm>
            <a:off x="457200" y="4066580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1" name="Text 35"/>
          <p:cNvSpPr/>
          <p:nvPr/>
        </p:nvSpPr>
        <p:spPr>
          <a:xfrm>
            <a:off x="457200" y="4066580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Storage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1185863" y="4066580"/>
            <a:ext cx="1199046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Firebase Cloud Storage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3" name="Shape 37"/>
          <p:cNvSpPr/>
          <p:nvPr/>
        </p:nvSpPr>
        <p:spPr>
          <a:xfrm>
            <a:off x="4657725" y="3020020"/>
            <a:ext cx="4200525" cy="1444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8"/>
          <p:cNvSpPr/>
          <p:nvPr/>
        </p:nvSpPr>
        <p:spPr>
          <a:xfrm>
            <a:off x="4657725" y="3020020"/>
            <a:ext cx="4200525" cy="28575"/>
          </a:xfrm>
          <a:prstGeom prst="rect">
            <a:avLst/>
          </a:prstGeom>
          <a:solidFill>
            <a:srgbClr val="1A2B4A"/>
          </a:solidFill>
          <a:ln/>
        </p:spPr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3209330"/>
            <a:ext cx="171450" cy="17145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086350" y="3191470"/>
            <a:ext cx="100668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페이퍼로지 4 Regular" pitchFamily="2" charset="-127"/>
                <a:ea typeface="페이퍼로지 4 Regular" pitchFamily="2" charset="-127"/>
                <a:cs typeface="Noto Sans KR ExtraBold" pitchFamily="34" charset="-120"/>
              </a:rPr>
              <a:t>DevOps &amp; Tools</a:t>
            </a:r>
            <a:endParaRPr lang="en-US" sz="10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7" name="Shape 40"/>
          <p:cNvSpPr/>
          <p:nvPr/>
        </p:nvSpPr>
        <p:spPr>
          <a:xfrm>
            <a:off x="4829175" y="3541514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8" name="Text 41"/>
          <p:cNvSpPr/>
          <p:nvPr/>
        </p:nvSpPr>
        <p:spPr>
          <a:xfrm>
            <a:off x="4829175" y="3541514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VCS</a:t>
            </a:r>
            <a:endParaRPr lang="en-US" sz="750" dirty="0"/>
          </a:p>
        </p:txBody>
      </p:sp>
      <p:sp>
        <p:nvSpPr>
          <p:cNvPr id="49" name="Text 42"/>
          <p:cNvSpPr/>
          <p:nvPr/>
        </p:nvSpPr>
        <p:spPr>
          <a:xfrm>
            <a:off x="5557838" y="3541514"/>
            <a:ext cx="1253548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GitHub (Version Control)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0" name="Shape 43"/>
          <p:cNvSpPr/>
          <p:nvPr/>
        </p:nvSpPr>
        <p:spPr>
          <a:xfrm>
            <a:off x="4829175" y="3811191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1" name="Text 44"/>
          <p:cNvSpPr/>
          <p:nvPr/>
        </p:nvSpPr>
        <p:spPr>
          <a:xfrm>
            <a:off x="4829175" y="3811191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CI / CD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5557838" y="3811191"/>
            <a:ext cx="1429879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GitHub Actions, Codemagic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3" name="Shape 46"/>
          <p:cNvSpPr/>
          <p:nvPr/>
        </p:nvSpPr>
        <p:spPr>
          <a:xfrm>
            <a:off x="4829175" y="4080867"/>
            <a:ext cx="642938" cy="1839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4" name="Text 47"/>
          <p:cNvSpPr/>
          <p:nvPr/>
        </p:nvSpPr>
        <p:spPr>
          <a:xfrm>
            <a:off x="4829175" y="4080867"/>
            <a:ext cx="64293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B4A"/>
                </a:solidFill>
                <a:latin typeface="Noto Sans KR ExtraBold" pitchFamily="34" charset="0"/>
                <a:ea typeface="Noto Sans KR ExtraBold" pitchFamily="34" charset="-122"/>
                <a:cs typeface="Noto Sans KR ExtraBold" pitchFamily="34" charset="-120"/>
              </a:rPr>
              <a:t>Design</a:t>
            </a:r>
            <a:endParaRPr lang="en-US" sz="750" dirty="0"/>
          </a:p>
        </p:txBody>
      </p:sp>
      <p:sp>
        <p:nvSpPr>
          <p:cNvPr id="55" name="Text 48"/>
          <p:cNvSpPr/>
          <p:nvPr/>
        </p:nvSpPr>
        <p:spPr>
          <a:xfrm>
            <a:off x="5557838" y="4080867"/>
            <a:ext cx="1054776" cy="1243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C4043"/>
                </a:solidFill>
                <a:latin typeface="페이퍼로지 4 Regular" pitchFamily="2" charset="-127"/>
                <a:ea typeface="페이퍼로지 4 Regular" pitchFamily="2" charset="-127"/>
                <a:cs typeface="Noto Sans KR Medium" pitchFamily="34" charset="-120"/>
              </a:rPr>
              <a:t>Figma, Notion, Slack</a:t>
            </a:r>
            <a:endParaRPr lang="en-US" sz="8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2371</Words>
  <Application>Microsoft Office PowerPoint</Application>
  <PresentationFormat>화면 슬라이드 쇼(16:9)</PresentationFormat>
  <Paragraphs>518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Noto Sans KR Bold</vt:lpstr>
      <vt:lpstr>Noto Sans KR ExtraBold</vt:lpstr>
      <vt:lpstr>Noto Sans KR Medium</vt:lpstr>
      <vt:lpstr>페이퍼로지 4 Regular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유진 권</cp:lastModifiedBy>
  <cp:revision>7</cp:revision>
  <cp:lastPrinted>2026-06-01T11:51:23Z</cp:lastPrinted>
  <dcterms:created xsi:type="dcterms:W3CDTF">2026-05-26T02:15:22Z</dcterms:created>
  <dcterms:modified xsi:type="dcterms:W3CDTF">2026-06-01T11:57:28Z</dcterms:modified>
</cp:coreProperties>
</file>