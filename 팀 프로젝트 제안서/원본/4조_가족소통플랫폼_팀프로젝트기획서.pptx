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327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.jpe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04016"/>
            <a:ext cx="1316236" cy="29136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캡스톤 디자인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199" y="1454124"/>
            <a:ext cx="5087983" cy="1218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생성형 AI 기반 감정 </a:t>
            </a:r>
            <a:r>
              <a:rPr lang="en-US" sz="27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분석</a:t>
            </a:r>
            <a:r>
              <a:rPr lang="en-US" sz="2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및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en-US" sz="27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캐릭터</a:t>
            </a:r>
            <a:r>
              <a:rPr lang="en-US" sz="2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성장 </a:t>
            </a:r>
            <a:r>
              <a:rPr lang="en-US" sz="27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시스템을</a:t>
            </a:r>
            <a:r>
              <a:rPr lang="en-US" sz="2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</a:t>
            </a:r>
            <a:r>
              <a:rPr lang="en-US" sz="27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활용한</a:t>
            </a:r>
            <a:endParaRPr lang="en-US" sz="2750" b="1" dirty="0">
              <a:solidFill>
                <a:srgbClr val="2D3748"/>
              </a:solidFill>
              <a:latin typeface="페이퍼로지 4 Regular" pitchFamily="2" charset="-127"/>
              <a:ea typeface="페이퍼로지 4 Regular" pitchFamily="2" charset="-127"/>
              <a:cs typeface="Montserrat Bold" pitchFamily="34" charset="-120"/>
            </a:endParaRPr>
          </a:p>
          <a:p>
            <a:pPr marL="0" indent="0" algn="l">
              <a:lnSpc>
                <a:spcPct val="96000"/>
              </a:lnSpc>
              <a:buNone/>
            </a:pPr>
            <a:r>
              <a:rPr lang="en-US" sz="27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가족</a:t>
            </a:r>
            <a:r>
              <a:rPr lang="en-US" sz="2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소통 플랫폼</a:t>
            </a:r>
            <a:endParaRPr lang="en-US" sz="2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199" y="3284742"/>
            <a:ext cx="477774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팀: </a:t>
            </a:r>
            <a:r>
              <a:rPr lang="en-US" sz="1600" b="1" dirty="0" err="1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에이원하</a:t>
            </a:r>
            <a:r>
              <a:rPr lang="ko-KR" altLang="en-US" sz="16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조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3729477"/>
            <a:ext cx="4777746" cy="357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권유진</a:t>
            </a:r>
            <a:r>
              <a:rPr lang="en-US" sz="9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(PM, Full-Stack) · </a:t>
            </a:r>
            <a:r>
              <a:rPr lang="en-US" sz="9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강민서</a:t>
            </a:r>
            <a:r>
              <a:rPr lang="en-US" sz="9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(Backend, AI) · </a:t>
            </a:r>
            <a:r>
              <a:rPr lang="en-US" sz="9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차은비</a:t>
            </a:r>
            <a:r>
              <a:rPr lang="en-US" sz="9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(Backend, AI)
</a:t>
            </a:r>
            <a:r>
              <a:rPr lang="en-US" sz="9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정윤도</a:t>
            </a:r>
            <a:r>
              <a:rPr lang="en-US" sz="9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(Frontend) · </a:t>
            </a:r>
            <a:r>
              <a:rPr lang="en-US" sz="9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김란아</a:t>
            </a:r>
            <a:r>
              <a:rPr lang="en-US" sz="9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(</a:t>
            </a:r>
            <a:r>
              <a:rPr lang="en-US" altLang="ko-KR" sz="9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Frontend</a:t>
            </a:r>
            <a:r>
              <a:rPr lang="en-US" sz="9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)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39521"/>
            <a:ext cx="110728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5078" y="4328806"/>
            <a:ext cx="2503884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github.com/kikimiya0606/capstone-project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816" y="348460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팀 구성 및 상세 역할 분담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122" y="1332728"/>
            <a:ext cx="250031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2906" y="1761353"/>
            <a:ext cx="14144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권유진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Shape 3"/>
          <p:cNvSpPr/>
          <p:nvPr/>
        </p:nvSpPr>
        <p:spPr>
          <a:xfrm>
            <a:off x="617934" y="2023886"/>
            <a:ext cx="964406" cy="22145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8" name="Text 4"/>
          <p:cNvSpPr/>
          <p:nvPr/>
        </p:nvSpPr>
        <p:spPr>
          <a:xfrm>
            <a:off x="625936" y="2023886"/>
            <a:ext cx="948401" cy="19184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PM, Full-Stack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240507" y="2532944"/>
            <a:ext cx="1628774" cy="136242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프로젝트 기획 및 서비스 전략 수립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프론트엔드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(Flutter)·</a:t>
            </a: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백엔드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(AI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통합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시스템 설계 및 개발 총괄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개발 일정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리소스 관리 및 팀 협업 조율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서비스 품질 관리 및 기술 의사결정</a:t>
            </a:r>
          </a:p>
          <a:p>
            <a:pPr marL="0" indent="0" algn="l">
              <a:lnSpc>
                <a:spcPct val="128000"/>
              </a:lnSpc>
              <a:buNone/>
            </a:pP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l">
              <a:lnSpc>
                <a:spcPct val="128000"/>
              </a:lnSpc>
              <a:buNone/>
            </a:pP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021681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678656" y="2488230"/>
            <a:ext cx="65" cy="127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678656" y="2865397"/>
            <a:ext cx="65" cy="127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678656" y="3082556"/>
            <a:ext cx="65" cy="127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1053" y="1332728"/>
            <a:ext cx="250031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28838" y="1761353"/>
            <a:ext cx="14144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강민서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2301180" y="2023886"/>
            <a:ext cx="1069777" cy="22145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9" name="Text 14"/>
          <p:cNvSpPr/>
          <p:nvPr/>
        </p:nvSpPr>
        <p:spPr>
          <a:xfrm>
            <a:off x="2424385" y="2023886"/>
            <a:ext cx="823367" cy="19184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Backend, AI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757613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2414588" y="2488230"/>
            <a:ext cx="65" cy="127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2414588" y="2865397"/>
            <a:ext cx="65" cy="127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2414588" y="3242565"/>
            <a:ext cx="65" cy="127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3406" y="1332728"/>
            <a:ext cx="357188" cy="2857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864769" y="1761353"/>
            <a:ext cx="14144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차은비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4089797" y="2023886"/>
            <a:ext cx="964406" cy="22145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0" name="Text 24"/>
          <p:cNvSpPr/>
          <p:nvPr/>
        </p:nvSpPr>
        <p:spPr>
          <a:xfrm>
            <a:off x="4160316" y="2023886"/>
            <a:ext cx="823367" cy="19184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Backend, AI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5493544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4150519" y="2488230"/>
            <a:ext cx="65" cy="127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4150519" y="2865397"/>
            <a:ext cx="65" cy="127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775" y="1332728"/>
            <a:ext cx="214313" cy="28575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600700" y="1761353"/>
            <a:ext cx="14144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정윤도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0" name="Shape 33"/>
          <p:cNvSpPr/>
          <p:nvPr/>
        </p:nvSpPr>
        <p:spPr>
          <a:xfrm>
            <a:off x="6019502" y="2023886"/>
            <a:ext cx="576858" cy="196453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1" name="Text 34"/>
          <p:cNvSpPr/>
          <p:nvPr/>
        </p:nvSpPr>
        <p:spPr>
          <a:xfrm>
            <a:off x="5961970" y="2023886"/>
            <a:ext cx="691920" cy="19184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Frontend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5" name="Shape 38"/>
          <p:cNvSpPr/>
          <p:nvPr/>
        </p:nvSpPr>
        <p:spPr>
          <a:xfrm>
            <a:off x="7229475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39"/>
          <p:cNvSpPr/>
          <p:nvPr/>
        </p:nvSpPr>
        <p:spPr>
          <a:xfrm>
            <a:off x="5886450" y="2463226"/>
            <a:ext cx="65" cy="127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00" dirty="0"/>
          </a:p>
        </p:txBody>
      </p:sp>
      <p:sp>
        <p:nvSpPr>
          <p:cNvPr id="47" name="Text 40"/>
          <p:cNvSpPr/>
          <p:nvPr/>
        </p:nvSpPr>
        <p:spPr>
          <a:xfrm>
            <a:off x="5886450" y="2840394"/>
            <a:ext cx="65" cy="127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0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88" y="1332728"/>
            <a:ext cx="285750" cy="28575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336631" y="1761353"/>
            <a:ext cx="14144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김란아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7755434" y="2023886"/>
            <a:ext cx="576858" cy="196453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52" name="Text 44"/>
          <p:cNvSpPr/>
          <p:nvPr/>
        </p:nvSpPr>
        <p:spPr>
          <a:xfrm>
            <a:off x="7697902" y="2023886"/>
            <a:ext cx="691921" cy="19184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Frontend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01FD281A-F1B0-3F1C-77E9-15A4CF3943EE}"/>
              </a:ext>
            </a:extLst>
          </p:cNvPr>
          <p:cNvSpPr/>
          <p:nvPr/>
        </p:nvSpPr>
        <p:spPr>
          <a:xfrm>
            <a:off x="1942348" y="2532944"/>
            <a:ext cx="1690688" cy="1500283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AI Hub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기반 감정 분석 모델 학습 및 연동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Hugging Face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모델을 활용한 </a:t>
            </a: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게이미피케이션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 기능 개발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사용자 입력 데이터 실시간 처리 및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감정 기반 알림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팝업 시스템 구현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서버 아키텍처 설계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API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제공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성능 최적화 및 안정성 관리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27217961-423B-0D9E-9782-3F4432F77DD7}"/>
              </a:ext>
            </a:extLst>
          </p:cNvPr>
          <p:cNvSpPr/>
          <p:nvPr/>
        </p:nvSpPr>
        <p:spPr>
          <a:xfrm>
            <a:off x="3695700" y="2520886"/>
            <a:ext cx="1690688" cy="1500283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AI Hub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기반 감정 분석 모델 학습 및 연동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Hugging Face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모델을 활용한 </a:t>
            </a: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게이미피케이션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 기능 개발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사용자 입력 데이터 실시간 처리 및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감정 기반 알림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팝업 시스템 구현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서버 아키텍처 설계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API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제공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성능 최적화 및 안정성 관리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BE5E4498-488D-EBC6-FA3F-BC47287DBA62}"/>
              </a:ext>
            </a:extLst>
          </p:cNvPr>
          <p:cNvSpPr/>
          <p:nvPr/>
        </p:nvSpPr>
        <p:spPr>
          <a:xfrm>
            <a:off x="5386388" y="2516286"/>
            <a:ext cx="1690688" cy="136242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Figma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를 활용한 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UI/UX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설계 및 프로토타입 제작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Flutter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기반 반응형 웹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모바일 화면 개발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감정 분석 결과 및 </a:t>
            </a: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게이미피케이션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 요소 시각화 구현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사용자 피드백 기반 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UI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개선 및 디자인 시스템 유지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C2C8E5F4-79E4-E11F-6BC8-5F11D7CB7954}"/>
              </a:ext>
            </a:extLst>
          </p:cNvPr>
          <p:cNvSpPr/>
          <p:nvPr/>
        </p:nvSpPr>
        <p:spPr>
          <a:xfrm>
            <a:off x="7145513" y="2511936"/>
            <a:ext cx="1690688" cy="136242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Figma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를 활용한 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UI/UX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설계 및 프로토타입 제작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Flutter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기반 반응형 웹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모바일 화면 개발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감정 분석 결과 및 </a:t>
            </a: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게이미피케이션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 요소 시각화 구현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사용자 피드백 기반 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UI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개선 및 디자인 시스템 유지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620" y="595688"/>
            <a:ext cx="8719458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프로젝트 배경 및 필요성: 소통의 단절 해결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6471"/>
            <a:ext cx="17859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5819" y="1234501"/>
            <a:ext cx="666868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사회적 배경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1499" y="1532753"/>
            <a:ext cx="6591233" cy="16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현대 사회의 1인 가구 증가와 바쁜 생활 패턴으로 인해 가족 간 대화 시간이 급격히 감소하고 있으며, 이는 정서적 거리감 심화로 이어집니다.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00470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0100" y="2158501"/>
            <a:ext cx="666868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기술적 배경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4"/>
          <p:cNvSpPr/>
          <p:nvPr/>
        </p:nvSpPr>
        <p:spPr>
          <a:xfrm>
            <a:off x="571499" y="2456752"/>
            <a:ext cx="7253152" cy="16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기존 메신저는 단순 정보 전달에 치중되어 있습니다. 최신 AI 감정 분석 기술을 통해 사용자의 마음을 읽고 공감을 유도하는 새로운 소통 방식이 필요합니다.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24470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0100" y="3082500"/>
            <a:ext cx="53969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추진 동기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71499" y="3380752"/>
            <a:ext cx="7253152" cy="16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감정 기록을 가족 간 대화의 매개체로 활용하고, 캐릭터 성장 시스템(Gamification)을 </a:t>
            </a:r>
            <a:r>
              <a:rPr lang="en-US" sz="9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도입하여</a:t>
            </a:r>
            <a:r>
              <a:rPr lang="en-US" sz="9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지속적이고 즐거운 소통 환경을 구축하고자 합니다.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99" y="546915"/>
            <a:ext cx="8712457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주요 기능 요약: AI와 게임 요소의 결합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1" y="1168737"/>
            <a:ext cx="3557588" cy="1285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83050"/>
            <a:ext cx="3500438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2" y="1747381"/>
            <a:ext cx="355758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감정 분석 &amp; 공감 알림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785812" y="2045633"/>
            <a:ext cx="3557587" cy="296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사용자의 일상 기록을 KoBERT로 분석하여 감정 상태를 파악하고, </a:t>
            </a:r>
            <a:r>
              <a:rPr lang="en-US" sz="8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가족에게</a:t>
            </a:r>
            <a:endParaRPr lang="en-US" sz="85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따뜻한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공감 메시지를 자동 생성하여 전달합니다.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643439" y="1168737"/>
            <a:ext cx="3771898" cy="1285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383050"/>
            <a:ext cx="3500438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7749" y="1747381"/>
            <a:ext cx="355758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기반 데일리 질문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857749" y="2045633"/>
            <a:ext cx="3557587" cy="296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가족 구성원 간의 대화가 끊기지 않도록 AI가 매일 새로운 맞춤형 </a:t>
            </a:r>
            <a:r>
              <a:rPr lang="en-US" sz="8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질문을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생성하여</a:t>
            </a:r>
            <a:endParaRPr lang="en-US" sz="85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자연스러운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소통을 유도합니다.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571500" y="2931856"/>
            <a:ext cx="3557587" cy="1285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146169"/>
            <a:ext cx="3500438" cy="2571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5812" y="3510500"/>
            <a:ext cx="355758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가족 공유 정원 성장 시스템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85812" y="3808752"/>
            <a:ext cx="3557587" cy="296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소통 활동량에 따라 공동의 캐릭터와 정원이 성장하는 </a:t>
            </a:r>
            <a:r>
              <a:rPr lang="en-US" sz="8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게이미피케이션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요소를</a:t>
            </a:r>
            <a:endParaRPr lang="en-US" sz="85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도입하여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즐거운 참여를 이끌어냅니다.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643438" y="2931856"/>
            <a:ext cx="3771899" cy="1285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146169"/>
            <a:ext cx="3500438" cy="2571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57749" y="3510500"/>
            <a:ext cx="355758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스마트 일정 공유 &amp; 타임캡슐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4857749" y="3808752"/>
            <a:ext cx="3557587" cy="296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가족의 일정을 한눈에 관리하고, 과거의 감정 기록을 타임캡슐처럼 보관하여 소중한 추억을 함께 회고합니다.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915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프로젝트 목표 및 기대효과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91626"/>
            <a:ext cx="3857625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44337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2988" y="1333235"/>
            <a:ext cx="85119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프로젝트 목표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761353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1556" y="1732778"/>
            <a:ext cx="3193256" cy="33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감정 분석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시스템</a:t>
            </a: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구축</a:t>
            </a:r>
            <a:endParaRPr lang="en-US" sz="900" b="1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 Bold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사용자의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일상을 깊이 있게 이해하는 한국어 특화 감정 분석 모델 구현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292837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21556" y="2264262"/>
            <a:ext cx="3193256" cy="33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자연스러운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대화</a:t>
            </a: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유도</a:t>
            </a:r>
            <a:endParaRPr lang="en-US" sz="900" b="1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 Bold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가족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구성원 간의 대화 단절을 해소하기 위한 AI 기반 맞춤형 질문 생성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2824321"/>
            <a:ext cx="128588" cy="128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21556" y="2795746"/>
            <a:ext cx="3193256" cy="33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지속적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참여</a:t>
            </a: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유도</a:t>
            </a:r>
            <a:endParaRPr lang="en-US" sz="900" b="1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 Bold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게이미피케이션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(캐릭터 성장)을 통한 꾸준한 서비스 이용 환경 제공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3355804"/>
            <a:ext cx="128588" cy="12858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21556" y="3327229"/>
            <a:ext cx="3193256" cy="33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디지털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아카이브</a:t>
            </a: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구축</a:t>
            </a:r>
            <a:endParaRPr lang="en-US" sz="900" b="1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 Bold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가족의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소중한 감정과 추억을 데이터 기반으로 보관 및 회고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714875" y="1091626"/>
            <a:ext cx="3857625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1344337"/>
            <a:ext cx="171450" cy="1714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186363" y="1326411"/>
            <a:ext cx="545021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기대효과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1761353"/>
            <a:ext cx="112514" cy="12858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148858" y="1732778"/>
            <a:ext cx="3209330" cy="33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정서적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유대감</a:t>
            </a: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강화</a:t>
            </a:r>
            <a:endParaRPr lang="en-US" sz="900" b="1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 Bold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가족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간의 오해를 줄이고 서로의 감정을 공감하며 정서적 거리 감소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9188" y="2292837"/>
            <a:ext cx="112514" cy="12858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148858" y="2264262"/>
            <a:ext cx="3209330" cy="33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사용자 공감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경험</a:t>
            </a: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확대</a:t>
            </a:r>
            <a:endParaRPr lang="en-US" sz="900" b="1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 Bold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AI가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생성한 공감 메시지를 통해 일상 속 따뜻한 위로와 지지 획득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9188" y="2824321"/>
            <a:ext cx="112514" cy="12858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148858" y="2795746"/>
            <a:ext cx="3209330" cy="33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가족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관계</a:t>
            </a: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개선</a:t>
            </a:r>
            <a:endParaRPr lang="en-US" sz="900" b="1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 Bold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데이터에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기반한 대화 주제 제공으로 서먹한 관계의 자연스러운 개선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29188" y="3355804"/>
            <a:ext cx="112514" cy="128588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5148858" y="3327229"/>
            <a:ext cx="3209330" cy="333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활용성</a:t>
            </a:r>
            <a:r>
              <a:rPr lang="en-US" sz="8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</a:t>
            </a:r>
            <a:r>
              <a:rPr lang="en-US" sz="850" b="1" dirty="0" err="1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검증</a:t>
            </a:r>
            <a:endParaRPr lang="en-US" sz="900" b="1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 Bold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생성형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AI와 감정 분석 기술의 실생활 문제 해결 가능성 입증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915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시장 벤치마킹 및 차별성 분석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91626"/>
            <a:ext cx="8001000" cy="1551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5072" y="1095198"/>
            <a:ext cx="1858128" cy="308967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5072" y="1095198"/>
            <a:ext cx="1858128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구분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433200" y="1095198"/>
            <a:ext cx="1458609" cy="308967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33200" y="1111759"/>
            <a:ext cx="1458609" cy="275845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Between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88098" y="1095198"/>
            <a:ext cx="1383599" cy="308967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88098" y="1111759"/>
            <a:ext cx="1383599" cy="275845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Slowly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269074" y="1095198"/>
            <a:ext cx="1502197" cy="308967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69074" y="1111759"/>
            <a:ext cx="1502197" cy="275845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Sumone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771270" y="1095198"/>
            <a:ext cx="1797658" cy="308967"/>
          </a:xfrm>
          <a:prstGeom prst="rect">
            <a:avLst/>
          </a:prstGeom>
          <a:solidFill>
            <a:srgbClr val="FFF5F5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71270" y="1111759"/>
            <a:ext cx="1797658" cy="275845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에이원하조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5072" y="1409736"/>
            <a:ext cx="1861086" cy="283539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주요 타겟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436158" y="1409736"/>
            <a:ext cx="1448228" cy="283539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커플/가족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84386" y="1409736"/>
            <a:ext cx="1384688" cy="283539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개인(펜팔)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269074" y="1409736"/>
            <a:ext cx="1502197" cy="283539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커플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771270" y="1397022"/>
            <a:ext cx="1797658" cy="308967"/>
          </a:xfrm>
          <a:prstGeom prst="rect">
            <a:avLst/>
          </a:prstGeom>
          <a:solidFill>
            <a:srgbClr val="FFF5F5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71270" y="1413583"/>
            <a:ext cx="1797658" cy="275845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가족 전체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75072" y="1718703"/>
            <a:ext cx="1861086" cy="283539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감정 분석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089" y="1844399"/>
            <a:ext cx="80367" cy="128588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532" y="1844399"/>
            <a:ext cx="80367" cy="128588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9988" y="1844399"/>
            <a:ext cx="80367" cy="12858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771270" y="1705989"/>
            <a:ext cx="1797658" cy="308967"/>
          </a:xfrm>
          <a:prstGeom prst="rect">
            <a:avLst/>
          </a:prstGeom>
          <a:solidFill>
            <a:srgbClr val="FFF5F5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9649" y="1842613"/>
            <a:ext cx="128588" cy="128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08236" y="1830112"/>
            <a:ext cx="6607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(KoBERT)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75072" y="2027670"/>
            <a:ext cx="1862565" cy="283539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대화 유도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2437637" y="2027670"/>
            <a:ext cx="1449372" cy="283539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일정 중심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3887009" y="2027670"/>
            <a:ext cx="1385804" cy="283539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편지 형식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5272813" y="2027670"/>
            <a:ext cx="1503397" cy="283539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질문 기반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6776210" y="2014956"/>
            <a:ext cx="1792718" cy="308967"/>
          </a:xfrm>
          <a:prstGeom prst="rect">
            <a:avLst/>
          </a:prstGeom>
          <a:solidFill>
            <a:srgbClr val="FFF5F5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776210" y="2031517"/>
            <a:ext cx="1792718" cy="275845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맞춤 질문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575072" y="2336637"/>
            <a:ext cx="1862565" cy="283539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게이미피케이션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2126" y="2462333"/>
            <a:ext cx="80367" cy="128588"/>
          </a:xfrm>
          <a:prstGeom prst="rect">
            <a:avLst/>
          </a:prstGeom>
        </p:spPr>
      </p:pic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9714" y="2462333"/>
            <a:ext cx="80367" cy="1285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272813" y="2336637"/>
            <a:ext cx="1503397" cy="283539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캐릭터 성장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8" name="Shape 29"/>
          <p:cNvSpPr/>
          <p:nvPr/>
        </p:nvSpPr>
        <p:spPr>
          <a:xfrm>
            <a:off x="6776210" y="2323923"/>
            <a:ext cx="1792718" cy="308967"/>
          </a:xfrm>
          <a:prstGeom prst="rect">
            <a:avLst/>
          </a:prstGeom>
          <a:solidFill>
            <a:srgbClr val="FFF5F5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776210" y="2340484"/>
            <a:ext cx="1792718" cy="275845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공유 정원 성장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571500" y="2922212"/>
            <a:ext cx="2571750" cy="100012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41" name="Text 32"/>
          <p:cNvSpPr/>
          <p:nvPr/>
        </p:nvSpPr>
        <p:spPr>
          <a:xfrm>
            <a:off x="714375" y="3065087"/>
            <a:ext cx="2286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가족 중심 구조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714375" y="3343694"/>
            <a:ext cx="2286000" cy="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커플 위주의 기존 앱과 달리 다자간 소통이 가능한 가족 최적화 인터페이스 제공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3" name="Shape 34"/>
          <p:cNvSpPr/>
          <p:nvPr/>
        </p:nvSpPr>
        <p:spPr>
          <a:xfrm>
            <a:off x="3286125" y="2922212"/>
            <a:ext cx="2571750" cy="1000125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44" name="Text 35"/>
          <p:cNvSpPr/>
          <p:nvPr/>
        </p:nvSpPr>
        <p:spPr>
          <a:xfrm>
            <a:off x="3429000" y="3065087"/>
            <a:ext cx="2286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정서 교류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5" name="Text 36"/>
          <p:cNvSpPr/>
          <p:nvPr/>
        </p:nvSpPr>
        <p:spPr>
          <a:xfrm>
            <a:off x="3429000" y="3343694"/>
            <a:ext cx="2286000" cy="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단순 메신저를 넘어 AI가 감정을 분석하고 공감 메시지를 생성하여 깊은 유대감 형성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6" name="Shape 37"/>
          <p:cNvSpPr/>
          <p:nvPr/>
        </p:nvSpPr>
        <p:spPr>
          <a:xfrm>
            <a:off x="6000750" y="2922212"/>
            <a:ext cx="2571750" cy="100012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7" name="Text 38"/>
          <p:cNvSpPr/>
          <p:nvPr/>
        </p:nvSpPr>
        <p:spPr>
          <a:xfrm>
            <a:off x="6143625" y="3065087"/>
            <a:ext cx="22860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지속적 상호작용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8" name="Text 39"/>
          <p:cNvSpPr/>
          <p:nvPr/>
        </p:nvSpPr>
        <p:spPr>
          <a:xfrm>
            <a:off x="6143625" y="3343694"/>
            <a:ext cx="2286000" cy="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정원 가꾸기 요소를 통해 가족이 함께 목표를 달성하며 앱 사용의 재미와 지속성 확보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적용 AI 기술 및 모델 구조 설계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66648"/>
            <a:ext cx="17859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531" y="1234501"/>
            <a:ext cx="106279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생성형 AI (Claude)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1500" y="1498820"/>
            <a:ext cx="4400550" cy="3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사용자 상황에 맞는 공감 메시지 생성, 가족 간 대화 유도를 위한 데일리 질문 자동 생성 및 감정 기반 요약 리포트 제공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75287"/>
            <a:ext cx="178594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531" y="2043140"/>
            <a:ext cx="143768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자연어 처리 (KoBERT)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4"/>
          <p:cNvSpPr/>
          <p:nvPr/>
        </p:nvSpPr>
        <p:spPr>
          <a:xfrm>
            <a:off x="571499" y="2307459"/>
            <a:ext cx="4628297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한국어 특화 감정 분류 모델을 활용하여 텍스트 데이터에서 미세한 감정 변화를 감지하고 다중 라벨링 수행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83926"/>
            <a:ext cx="160734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3672" y="2851779"/>
            <a:ext cx="70211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추천 알고리즘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71500" y="3116098"/>
            <a:ext cx="3558667" cy="1477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사용자의 과거 감정 이력과 소통 패턴을 분석하여 개인화된 콘텐츠 및 대화 주제 추천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571500" y="3513274"/>
            <a:ext cx="4400550" cy="557213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4" name="Text 8"/>
          <p:cNvSpPr/>
          <p:nvPr/>
        </p:nvSpPr>
        <p:spPr>
          <a:xfrm>
            <a:off x="714375" y="3656149"/>
            <a:ext cx="411480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데이터 흐름도 (Data Pipeline)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14375" y="3915110"/>
            <a:ext cx="471283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사용자 입력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5520" y="3949936"/>
            <a:ext cx="53578" cy="857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30536" y="3915110"/>
            <a:ext cx="819135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KoBERT 감정 분석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7849" y="3949936"/>
            <a:ext cx="53578" cy="857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473336" y="3915110"/>
            <a:ext cx="767839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Claude 응답 생성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0112" y="3949936"/>
            <a:ext cx="53578" cy="857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431480" y="3915110"/>
            <a:ext cx="642805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Firebase 저장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3628" y="595218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모델 구조 및 알고리즘 설계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548826"/>
            <a:ext cx="1705570" cy="102870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8656" y="1891726"/>
            <a:ext cx="146982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STEP 01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78656" y="2048889"/>
            <a:ext cx="1469827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사용자 입력
(텍스트/일기)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514" y="1974772"/>
            <a:ext cx="107156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648545" y="1548826"/>
            <a:ext cx="1712714" cy="102870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62845" y="1904228"/>
            <a:ext cx="147697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STEP 02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2762845" y="2061390"/>
            <a:ext cx="147697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KoBERT
감정 분석 모델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847" y="1974772"/>
            <a:ext cx="107156" cy="17145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739878" y="1548826"/>
            <a:ext cx="1719858" cy="102870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861322" y="1904228"/>
            <a:ext cx="148411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STEP 03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4861322" y="2061390"/>
            <a:ext cx="148411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OpenAI Claude
응답 생성 API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467" y="1974772"/>
            <a:ext cx="107156" cy="17145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845498" y="1548826"/>
            <a:ext cx="1727002" cy="102870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974086" y="1877439"/>
            <a:ext cx="14912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STEP 04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6974086" y="2034601"/>
            <a:ext cx="149125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Firebase DB 저장
&amp; 피드백 제공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71500" y="3196368"/>
            <a:ext cx="2571750" cy="877490"/>
          </a:xfrm>
          <a:prstGeom prst="rect">
            <a:avLst/>
          </a:prstGeom>
          <a:solidFill>
            <a:srgbClr val="F7FAF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353531"/>
            <a:ext cx="128588" cy="128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0113" y="3339243"/>
            <a:ext cx="1298377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Sentiment Analysis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714375" y="3567843"/>
            <a:ext cx="2342724" cy="27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KoBERT 기반 한국어 특화 감정 분류 모델을 </a:t>
            </a:r>
            <a:r>
              <a:rPr lang="en-US" sz="7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활용하여</a:t>
            </a:r>
            <a:r>
              <a:rPr lang="en-US" sz="7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7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일상</a:t>
            </a:r>
            <a:endParaRPr lang="en-US" sz="75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7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텍스트에서</a:t>
            </a:r>
            <a:r>
              <a:rPr lang="en-US" sz="7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긍정, 부정, 중립 등 세밀한 감정 상태를 도출합니다.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3286125" y="3196368"/>
            <a:ext cx="2571750" cy="877490"/>
          </a:xfrm>
          <a:prstGeom prst="rect">
            <a:avLst/>
          </a:prstGeom>
          <a:solidFill>
            <a:srgbClr val="F7FAFC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353531"/>
            <a:ext cx="128588" cy="128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14738" y="3339243"/>
            <a:ext cx="1373386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Prompt Engineering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3429000" y="3567843"/>
            <a:ext cx="2286000" cy="425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분석된 감정 데이터를 바탕으로 가족 </a:t>
            </a:r>
            <a:r>
              <a:rPr lang="en-US" sz="7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구성원에게</a:t>
            </a:r>
            <a:r>
              <a:rPr lang="en-US" sz="7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7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최적화된</a:t>
            </a:r>
            <a:endParaRPr lang="en-US" sz="75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7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공감</a:t>
            </a:r>
            <a:r>
              <a:rPr lang="en-US" sz="7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메시지와 자연스러운 대화 유도 </a:t>
            </a:r>
            <a:r>
              <a:rPr lang="en-US" sz="7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질문을</a:t>
            </a:r>
            <a:r>
              <a:rPr lang="en-US" sz="7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7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생성하는</a:t>
            </a:r>
            <a:endParaRPr lang="en-US" sz="75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7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프롬프트</a:t>
            </a:r>
            <a:r>
              <a:rPr lang="en-US" sz="7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기술을 적용합니다.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6000750" y="3196368"/>
            <a:ext cx="2571750" cy="877490"/>
          </a:xfrm>
          <a:prstGeom prst="rect">
            <a:avLst/>
          </a:prstGeom>
          <a:solidFill>
            <a:srgbClr val="F7FAFC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3625" y="3368711"/>
            <a:ext cx="128588" cy="1285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29363" y="3339243"/>
            <a:ext cx="631583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추천 알고리즘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6143624" y="3598204"/>
            <a:ext cx="2321719" cy="27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사용자의 과거 감정 이력과 소통 패턴을 분석하여, 현재 상황에 가장 적합한 대화 주제와 가족 활동 콘텐츠를 추천합니다.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데이터 수집 및 전처리 계획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234501"/>
            <a:ext cx="2476509" cy="3143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725" y="1547040"/>
            <a:ext cx="250031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1889965"/>
            <a:ext cx="2047884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데이터 출처 및 수집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856369" y="2454971"/>
            <a:ext cx="1762134" cy="14779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Hub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한국어 감정 데이터셋 활용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499182" y="2927854"/>
            <a:ext cx="2476508" cy="14779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Hugging Face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기반 감정 분석 공개 데이터셋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803658" y="3342931"/>
            <a:ext cx="1762134" cy="31521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사용자 테스트를 통한 실데이터 수집 (동의 기반)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333759" y="1234501"/>
            <a:ext cx="2476509" cy="3143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1547040"/>
            <a:ext cx="285750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76199" y="1866664"/>
            <a:ext cx="2047884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전처리 프로세스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3616028" y="2454971"/>
            <a:ext cx="1757288" cy="14779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불용어 제거 및 맞춤법 정제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357790" y="2923986"/>
            <a:ext cx="2262197" cy="14779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KoNLPy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활용 형태소 분석 및 토큰화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409298" y="3342206"/>
            <a:ext cx="2262197" cy="14779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다중 감정 라벨링 (긍정/부정/중립 등 7개 범주)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096019" y="1234501"/>
            <a:ext cx="2476509" cy="3143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7"/>
          <p:cNvSpPr/>
          <p:nvPr/>
        </p:nvSpPr>
        <p:spPr>
          <a:xfrm>
            <a:off x="3833822" y="3143976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8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1384" y="1547040"/>
            <a:ext cx="285750" cy="2857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10331" y="1874904"/>
            <a:ext cx="2047884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윤리적 고려사항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6362586" y="2428363"/>
            <a:ext cx="1834795" cy="14779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개인정보 </a:t>
            </a:r>
            <a:r>
              <a:rPr lang="en-US" sz="8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비식별화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처리 (가명화)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6262630" y="2923509"/>
            <a:ext cx="2047817" cy="14779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사용자 동의 기반 데이터 활용 원칙 준수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6228778" y="3342205"/>
            <a:ext cx="2047817" cy="14779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감정 데이터 암호화 저장 및 접근 제어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596081" y="2381073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915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개발 환경 및 구현 도구 상세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163064"/>
            <a:ext cx="4243388" cy="3180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63064"/>
            <a:ext cx="1093273" cy="30539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61315"/>
            <a:ext cx="109327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177839"/>
            <a:ext cx="545406" cy="275845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구분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664773" y="1163064"/>
            <a:ext cx="3150115" cy="30539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9" name="Shape 6"/>
          <p:cNvSpPr/>
          <p:nvPr/>
        </p:nvSpPr>
        <p:spPr>
          <a:xfrm>
            <a:off x="1664773" y="1461315"/>
            <a:ext cx="315011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1664773" y="1177839"/>
            <a:ext cx="3150115" cy="275845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사용 기술 및 환경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1568341"/>
            <a:ext cx="824328" cy="268150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프론트엔드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664773" y="1568341"/>
            <a:ext cx="3150115" cy="26815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Flutter (Dart)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" y="2045187"/>
            <a:ext cx="631968" cy="268150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백엔드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664773" y="2045187"/>
            <a:ext cx="3150115" cy="26815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Firebase, Node.js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1500" y="2523818"/>
            <a:ext cx="668837" cy="268150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AI 모델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664773" y="2523818"/>
            <a:ext cx="3150115" cy="26815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claude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API, KoBERT (Hugging Face)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1500" y="3002449"/>
            <a:ext cx="920508" cy="268150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데이터베이스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664773" y="3002449"/>
            <a:ext cx="3150115" cy="26815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Firebase Realtime Database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71500" y="3481080"/>
            <a:ext cx="728148" cy="268150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개발언어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664773" y="3481080"/>
            <a:ext cx="3150115" cy="26815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Python, Dart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71500" y="3959712"/>
            <a:ext cx="728148" cy="268150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협업도구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664773" y="3959712"/>
            <a:ext cx="3150115" cy="26815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GitHub, Notion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638" y="1266648"/>
            <a:ext cx="178594" cy="14287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50669" y="1234501"/>
            <a:ext cx="7822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LLM 활용 방안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386388" y="1555970"/>
            <a:ext cx="2220160" cy="163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sz="800" b="1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Cursor &amp; Claude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: 코드 자동 생성 및 디버깅 보조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386388" y="1761688"/>
            <a:ext cx="2048638" cy="163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44000"/>
              </a:lnSpc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altLang="ko-KR" sz="800" b="1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Claude</a:t>
            </a:r>
            <a:r>
              <a:rPr lang="en-US" sz="800" b="1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 API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: 공감 메시지 및 데일리 질문 생성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386388" y="1967405"/>
            <a:ext cx="2146421" cy="163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sz="800" b="1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Manus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: 서비스 시나리오 정리 및 문서 초안 생성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5386388" y="2173123"/>
            <a:ext cx="2095125" cy="163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sz="800" b="1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Hugging Face</a:t>
            </a:r>
            <a:r>
              <a:rPr lang="en-US" sz="85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: 한국어 감정 분류 모델 최적화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 0" descr="preencoded.png">
            <a:extLst>
              <a:ext uri="{FF2B5EF4-FFF2-40B4-BE49-F238E27FC236}">
                <a16:creationId xmlns:a16="http://schemas.microsoft.com/office/drawing/2014/main" id="{8B62DF54-2FE6-39D4-5EC8-1DAA724F5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5478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프로젝트 추진 일정: 15주차 상세 계획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31414" y="995604"/>
            <a:ext cx="6141086" cy="257175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상세 활동 및 과업 내용</a:t>
            </a:r>
            <a:endParaRPr lang="en-US" sz="800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83CD6394-687B-3DDE-D47D-842C9CDEE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59" y="796761"/>
            <a:ext cx="8020513" cy="41654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915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결과 분석 및 개선 방안 제시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091626"/>
            <a:ext cx="3857625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80" y="1340051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2826" y="1340051"/>
            <a:ext cx="884858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분석 예정 항목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768497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4407" y="1760076"/>
            <a:ext cx="317896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모델 성능 분석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4"/>
          <p:cNvSpPr/>
          <p:nvPr/>
        </p:nvSpPr>
        <p:spPr>
          <a:xfrm>
            <a:off x="966002" y="1948363"/>
            <a:ext cx="3178969" cy="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감정 분석 모델의 정확도(Accuracy) 및 F1-Score를 </a:t>
            </a:r>
            <a:r>
              <a:rPr lang="en-US" sz="8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측정하여</a:t>
            </a:r>
            <a:endParaRPr lang="en-US" sz="80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KoBERT </a:t>
            </a:r>
            <a:r>
              <a:rPr lang="en-US" sz="8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모델의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신뢰성 검증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491801"/>
            <a:ext cx="178594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527" y="2496177"/>
            <a:ext cx="31432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사용자 참여 지표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4527" y="2692121"/>
            <a:ext cx="3261601" cy="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가족 구성원의 일일 참여율, 앱 체류 시간 및 소통 빈도 </a:t>
            </a:r>
            <a:r>
              <a:rPr lang="en-US" sz="8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데이터를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8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통해</a:t>
            </a:r>
            <a:endParaRPr lang="en-US" sz="80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서비스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활성도 분석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215106"/>
            <a:ext cx="125016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94527" y="3206141"/>
            <a:ext cx="319682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기능 만족도 설문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017984" y="3370027"/>
            <a:ext cx="3196828" cy="131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캐릭터 성장 시스템 및 AI 질문 생성 기능에 대한 사용자 만족도 정성/정량 분석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4714875" y="1091626"/>
            <a:ext cx="3857625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1344337"/>
            <a:ext cx="171450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21430" y="1337513"/>
            <a:ext cx="155912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피드백 반영 개선 방향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1768497"/>
            <a:ext cx="142875" cy="14287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07782" y="1766412"/>
            <a:ext cx="317896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응답 품질 고도화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5100637" y="1948363"/>
            <a:ext cx="3026605" cy="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프롬프트 엔지니어링 튜닝을 통해 보다 자연스럽고 공감 능력 있는 AI 메시지 생성 로직 강화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2491801"/>
            <a:ext cx="178594" cy="14287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36357" y="2489943"/>
            <a:ext cx="31432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게이미피케이션 다양화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5136357" y="2679325"/>
            <a:ext cx="3143250" cy="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사용자 피드백을 반영하여 캐릭터 성장 단계 및 정원 꾸미기 요소를 다각화하여 지속적 참여 유도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6012" y="3215106"/>
            <a:ext cx="178594" cy="14287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143501" y="3206141"/>
            <a:ext cx="314325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개인화 추천 기능 강화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5143501" y="3396741"/>
            <a:ext cx="3143250" cy="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가족별 소통 패턴 학습을 통해 상황에 맞는 대화 주제 추천 및 </a:t>
            </a:r>
            <a:r>
              <a:rPr lang="en-US" sz="8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개인화된</a:t>
            </a:r>
            <a:endParaRPr lang="en-US" sz="80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요약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리포트 개선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사용자 테스트 및 분석 계획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69327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3678" y="1261797"/>
            <a:ext cx="65562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테스트 대상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857250" y="1582759"/>
            <a:ext cx="1354730" cy="1565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대학생 (팀원 및 지인 그룹)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857250" y="1834214"/>
            <a:ext cx="1837234" cy="1565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실제 가족 단위 사용자 (10가족 목표)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857250" y="1582759"/>
            <a:ext cx="42863" cy="194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57250" y="1834214"/>
            <a:ext cx="42863" cy="194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77656"/>
            <a:ext cx="157163" cy="1571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4388" y="2270127"/>
            <a:ext cx="81111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주요 평가 항목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57250" y="2591088"/>
            <a:ext cx="2387064" cy="1565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UX 만족도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: UI 편의성 및 캐릭터 성장 시스템 재미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57250" y="2842543"/>
            <a:ext cx="2189895" cy="1565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정확도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: 감정 분석 결과의 실제 체감 일치도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57250" y="3093997"/>
            <a:ext cx="2383858" cy="1565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지속성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: 서비스 재방문 의사 및 소통 활성화 기여도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71499" y="3502614"/>
            <a:ext cx="8007181" cy="6858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6" name="Text 11"/>
          <p:cNvSpPr/>
          <p:nvPr/>
        </p:nvSpPr>
        <p:spPr>
          <a:xfrm>
            <a:off x="857250" y="2591088"/>
            <a:ext cx="42863" cy="194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857250" y="2842543"/>
            <a:ext cx="42863" cy="194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857250" y="3093997"/>
            <a:ext cx="42863" cy="194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714375" y="3645489"/>
            <a:ext cx="342900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피드백 반영 및 개선 방향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14375" y="3866945"/>
            <a:ext cx="6191392" cy="131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Google Forms 설문 및 앱 로그 분석을 통해 AI 응답 </a:t>
            </a:r>
            <a:r>
              <a:rPr lang="en-US" sz="8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품질을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8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고도화하고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8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사용자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맞춤형 추천 기능을 강화할 예정입니다.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기대효과: 사회적 가치와 기술적 성과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234501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094" y="1552398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2109611"/>
            <a:ext cx="209549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사회적 가치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785813" y="2500731"/>
            <a:ext cx="2095491" cy="541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6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가족 간 정서적 거리 감소 및 </a:t>
            </a: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소통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활성화를</a:t>
            </a:r>
            <a:endParaRPr lang="en-US" sz="90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ctr">
              <a:lnSpc>
                <a:spcPct val="136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통해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현대 사회의 고립 </a:t>
            </a: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문제를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해결하고</a:t>
            </a:r>
            <a:endParaRPr lang="en-US" sz="90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ctr">
              <a:lnSpc>
                <a:spcPct val="136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유대감을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강화합니다.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309928" y="1234501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660" y="1552398"/>
            <a:ext cx="428625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24241" y="2109611"/>
            <a:ext cx="209549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교육적 가치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524241" y="2500731"/>
            <a:ext cx="2095491" cy="541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6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최신 AI 기술(감정 분석, 생성형 AI)을</a:t>
            </a:r>
          </a:p>
          <a:p>
            <a:pPr marL="0" indent="0" algn="ctr">
              <a:lnSpc>
                <a:spcPct val="136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실제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서비스에 적용하는 전 </a:t>
            </a: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과정을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경험하며</a:t>
            </a:r>
            <a:endParaRPr lang="en-US" sz="90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ctr">
              <a:lnSpc>
                <a:spcPct val="136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기술적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역량을 축적합니다.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6048356" y="1234501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8950" y="1552398"/>
            <a:ext cx="342900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2669" y="2109611"/>
            <a:ext cx="209549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산업적 가치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262669" y="2500731"/>
            <a:ext cx="2095491" cy="541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6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감정 기반 AI </a:t>
            </a: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소통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</a:t>
            </a: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플랫폼이라는</a:t>
            </a:r>
            <a:endParaRPr lang="en-US" sz="900" dirty="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  <a:cs typeface="Montserrat" pitchFamily="34" charset="-120"/>
            </a:endParaRPr>
          </a:p>
          <a:p>
            <a:pPr marL="0" indent="0" algn="ctr">
              <a:lnSpc>
                <a:spcPct val="136000"/>
              </a:lnSpc>
              <a:buNone/>
            </a:pPr>
            <a:r>
              <a:rPr lang="en-US" sz="900" dirty="0" err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새로운</a:t>
            </a:r>
            <a:r>
              <a:rPr lang="en-US" sz="9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 시장 진입 가능성을 확인하고 비즈니스 모델의 타당성을 검증합니다.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0" y="4592064"/>
            <a:ext cx="9144000" cy="34099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"기술로 가족의 마음을 잇는 정서적 연결 고리를 구축합니다."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한계점 및 향후 발전 방향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2899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1234501"/>
            <a:ext cx="85119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53E3E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현재의 한계점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Shape 2"/>
          <p:cNvSpPr/>
          <p:nvPr/>
        </p:nvSpPr>
        <p:spPr>
          <a:xfrm>
            <a:off x="571500" y="1661340"/>
            <a:ext cx="3786188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714375" y="1804215"/>
            <a:ext cx="350043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텍스트 기반 분석의 한계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714375" y="2048889"/>
            <a:ext cx="3550550" cy="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현재는 텍스트 입력에만 의존하여 사용자의 실제 목소리 톤이나 표정에 담긴 미세한 감정을 파악하는 데 한계가 있음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71500" y="2661465"/>
            <a:ext cx="3786188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714375" y="2804340"/>
            <a:ext cx="350043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능동적 기록 의존성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14375" y="3049014"/>
            <a:ext cx="3500438" cy="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사용자가 직접 일상을 기록해야만 분석이 가능하므로, 바쁜 일상 속에서 지속적인 참여를 유도하는 데 어려움이 존재함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272899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43488" y="1234501"/>
            <a:ext cx="884858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향후 발전 방향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786313" y="1661340"/>
            <a:ext cx="3786188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0"/>
          <p:cNvSpPr/>
          <p:nvPr/>
        </p:nvSpPr>
        <p:spPr>
          <a:xfrm>
            <a:off x="4929188" y="1804215"/>
            <a:ext cx="350043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멀티모달 AI 도입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929188" y="2048889"/>
            <a:ext cx="3500438" cy="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텍스트뿐만 아니라 음성 감정 분석 및 표정 인식 기술을 결합하여 보다 입체적이고 정확한 감정 분석 시스템 구축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786313" y="2661465"/>
            <a:ext cx="3786188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3"/>
          <p:cNvSpPr/>
          <p:nvPr/>
        </p:nvSpPr>
        <p:spPr>
          <a:xfrm>
            <a:off x="4929188" y="2804340"/>
            <a:ext cx="350043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서비스 확장 및 고도화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929188" y="3049014"/>
            <a:ext cx="3409594" cy="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웨어러블 기기 연동을 통한 자동 상태 감지, 노인 돌봄 서비스 연계 및 전문적인 AI 상담 기능 추가로 서비스 범위 확장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참고 문헌 및 자료 출처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49682"/>
            <a:ext cx="17859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531" y="1234501"/>
            <a:ext cx="1864519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&amp; LLM Documentation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857250" y="1522037"/>
            <a:ext cx="3571875" cy="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OpenAI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. (2024). GPT-4o API 공식 문서. https://platform.openai.com/docs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857250" y="1893512"/>
            <a:ext cx="3571875" cy="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Hugging Face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. (2024). Transformers Documentation. https://huggingface.co/docs/transformers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857250" y="2264987"/>
            <a:ext cx="3571875" cy="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SKTBrain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. (2020). KoBERT GitHub Repository. https://github.com/SKTBrain/KoBERT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249682"/>
            <a:ext cx="125016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11328" y="1234501"/>
            <a:ext cx="106118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Datasets &amp; Tools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000625" y="1522037"/>
            <a:ext cx="2845331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AI Hub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. (2024). 한국어 감정 분석 데이터셋. https://aihub.or.kr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000625" y="1743494"/>
            <a:ext cx="3571875" cy="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Google Firebase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. (2024). Firebase 공식 문서. https://firebase.google.com/docs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000625" y="2114969"/>
            <a:ext cx="3228448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Flutter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. (2024). Flutter Documentation. https://docs.flutter.dev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23130"/>
            <a:ext cx="125016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7953" y="3107950"/>
            <a:ext cx="1439466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Research &amp; Articles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57250" y="3395486"/>
            <a:ext cx="2797241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감정 분석 기술의 동향 및 가족 소통 플랫폼 시장 조사 보고서 (2024)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57250" y="3616942"/>
            <a:ext cx="2569614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게이미피케이션을 활용한 모바일 앱 지속 사용 의도에 관한 연구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3123130"/>
            <a:ext cx="142875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29188" y="3107950"/>
            <a:ext cx="165735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6AD55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Development Support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5000625" y="3395486"/>
            <a:ext cx="2660985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Cursor &amp; Claude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: AI-assisted coding and debugging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5000625" y="3616942"/>
            <a:ext cx="2899833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Manus</a:t>
            </a:r>
            <a:r>
              <a:rPr lang="en-US" sz="800" dirty="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: Project structuring and documentation support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571500" y="4713089"/>
            <a:ext cx="3995142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0AEC0"/>
                </a:solidFill>
                <a:latin typeface="페이퍼로지 4 Regular" pitchFamily="2" charset="-127"/>
                <a:ea typeface="페이퍼로지 4 Regular" pitchFamily="2" charset="-127"/>
                <a:cs typeface="Montserrat" pitchFamily="34" charset="-120"/>
              </a:rPr>
              <a:t>© 2026 에이원하조 (A1HaJo) - AI Family Communication Platform Project Proposal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1597</Words>
  <Application>Microsoft Office PowerPoint</Application>
  <PresentationFormat>화면 슬라이드 쇼(16:9)</PresentationFormat>
  <Paragraphs>276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페이퍼로지 4 Regular</vt:lpstr>
      <vt:lpstr>Arial</vt:lpstr>
      <vt:lpstr>Montserrat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유진 권</cp:lastModifiedBy>
  <cp:revision>3</cp:revision>
  <cp:lastPrinted>2026-06-01T11:16:22Z</cp:lastPrinted>
  <dcterms:created xsi:type="dcterms:W3CDTF">2026-05-12T05:59:43Z</dcterms:created>
  <dcterms:modified xsi:type="dcterms:W3CDTF">2026-06-01T11:16:49Z</dcterms:modified>
</cp:coreProperties>
</file>